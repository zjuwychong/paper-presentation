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2" r:id="rId8"/>
    <p:sldId id="263" r:id="rId9"/>
    <p:sldId id="261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0" d="100"/>
          <a:sy n="150" d="100"/>
        </p:scale>
        <p:origin x="65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280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766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5136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126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454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2477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47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237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066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71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DB9EE0-C25E-4740-9FDA-FBADD206522D}" type="datetimeFigureOut">
              <a:rPr lang="en-US" smtClean="0"/>
              <a:t>1/16/2026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5CD1FC7-F65D-4549-8AA5-5E3804FBC55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64030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8FE8C06-858D-B6B1-31CB-24A615E94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E25746-662F-10E6-2F46-0EFF74613F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651710E-C62F-F3B2-E20E-FD594A2B4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10CF2F-9022-D678-7BBD-05556674F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4E75A54-0D30-F49D-A0D6-F265D7F8C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08435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211A2C-C32B-6392-6197-12975C635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D4045C-D9CE-D35A-FA13-34CCAF6BE0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B18AB40-2C69-A451-5DD1-6042839F8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D684A31-8E6C-2AA8-F7F5-EBD5FFE11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9770D42-66B6-2B58-19FD-A5F7FC4C9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2207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CB86B6-9FB9-BFB4-44B5-209A396AC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E1A442C-2583-31EE-C10F-31B152300C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176630-E176-F179-E020-6FB9AC9C5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12664F0-E040-B593-FC23-F027C207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689173B-D473-4C9D-5795-64710CE6D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28286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ABB2A-9A45-380D-DD02-3C1FD5231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433221-A7E0-61BD-95D4-EDC6CE7AE0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321E03-A45E-FD52-3C6A-59AB87B0BC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E7E9064-7B3F-FBF1-8970-AED709FFFE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33DF0ED-087D-9A36-FF42-DBA2EFD9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42B00D-2061-EB4D-C9F9-393369F75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79782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2E87BF-E865-E69D-7526-87C260D016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83B333-CCD9-1D66-598A-60A7378386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B1687E-5E09-240B-FC82-3291C8451F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17E28D17-47E5-3574-CFF5-74A71199A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1E04557-58DB-4CE7-5D03-F678ED8ED0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6ECF93F-88B2-E9AC-81B1-FBF402E555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F5D3C9B-2BA0-CB0D-74EF-66B2F358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32038DBF-6B16-AA8C-929A-5D9EE2BBD2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779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130E7C-7166-CD6D-06E5-E8B06F1198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C5244D34-C2B4-B757-2CB3-37F6B673B1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1A3EA9-25B1-6A19-E70F-065D86777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75B89DE-F683-9BEE-97B2-F613B0CDD3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936209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2DAAEC10-9ADE-BFC3-5751-70304FF21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F5E9F29-2295-4DB9-9D50-F10F6D30B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3738C71-382B-DC7B-7F80-1434A064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168800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B5A817-9DB9-E58D-25ED-D54203F31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3B243F-97F2-22FD-BD11-DF5C96E148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C76E11F-9785-5848-595D-F4A2145EA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1019552-5E60-C21D-87A3-D2BE3A706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B1E11C2-FAFC-5A37-1151-CFFD3BCDB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79BD6C6-4B4F-B700-49BC-7CCB6E50F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04587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89605B-D776-E143-DA41-6676CAEE1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92A9D69-6877-2D7C-04E7-5B3F7EF30A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B591C9F-9640-380C-8294-6F5B693B51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A853704-D2DC-FBD5-1B48-198EF0379C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6DC2365-F16F-2470-A8FB-9D1F1A153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177DF41-C048-E48E-3768-5124BD2BE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5530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59B62D-9D79-C62A-4944-560DAD4B7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A758386-4F8F-252A-F4B8-A5C5C61413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DD934D-1F73-0968-0A7E-5EE622627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6B5ADFE-6BA7-AAC5-F86E-B47EFF83A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E0361E-EA0B-4621-05C0-F90CDE2C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8795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9CAC1554-D208-4225-FA36-360E64AC86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B8C46A9-1FD4-3737-2C8B-1598BD22AD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010E2C5-096E-ECB2-2379-CBF36A518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CE5991-2DC0-B029-B121-7BAE82E2D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6CAF68-619E-A6A9-26DA-4BF981349A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97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12863" y="309247"/>
            <a:ext cx="8832273" cy="48418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grpSp>
        <p:nvGrpSpPr>
          <p:cNvPr id="7" name="组合 1"/>
          <p:cNvGrpSpPr/>
          <p:nvPr userDrawn="1"/>
        </p:nvGrpSpPr>
        <p:grpSpPr bwMode="auto">
          <a:xfrm>
            <a:off x="0" y="327025"/>
            <a:ext cx="1312863" cy="471488"/>
            <a:chOff x="4831847" y="1415943"/>
            <a:chExt cx="1108990" cy="346728"/>
          </a:xfrm>
        </p:grpSpPr>
        <p:sp>
          <p:nvSpPr>
            <p:cNvPr id="8" name="任意多边形: 形状 2"/>
            <p:cNvSpPr/>
            <p:nvPr/>
          </p:nvSpPr>
          <p:spPr>
            <a:xfrm>
              <a:off x="4932421" y="1415943"/>
              <a:ext cx="1008416" cy="346728"/>
            </a:xfrm>
            <a:custGeom>
              <a:avLst/>
              <a:gdLst>
                <a:gd name="connsiteX0" fmla="*/ 0 w 1008421"/>
                <a:gd name="connsiteY0" fmla="*/ 0 h 346728"/>
                <a:gd name="connsiteX1" fmla="*/ 858142 w 1008421"/>
                <a:gd name="connsiteY1" fmla="*/ 0 h 346728"/>
                <a:gd name="connsiteX2" fmla="*/ 1008421 w 1008421"/>
                <a:gd name="connsiteY2" fmla="*/ 346728 h 346728"/>
                <a:gd name="connsiteX3" fmla="*/ 0 w 1008421"/>
                <a:gd name="connsiteY3" fmla="*/ 346728 h 34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8421" h="346728">
                  <a:moveTo>
                    <a:pt x="0" y="0"/>
                  </a:moveTo>
                  <a:lnTo>
                    <a:pt x="858142" y="0"/>
                  </a:lnTo>
                  <a:lnTo>
                    <a:pt x="1008421" y="346728"/>
                  </a:lnTo>
                  <a:lnTo>
                    <a:pt x="0" y="346728"/>
                  </a:lnTo>
                  <a:close/>
                </a:path>
              </a:pathLst>
            </a:custGeom>
            <a:solidFill>
              <a:srgbClr val="E9BE8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  <a:latin typeface="Roboto Regular"/>
                <a:ea typeface="思源黑体 CN Regular"/>
              </a:endParaRPr>
            </a:p>
          </p:txBody>
        </p:sp>
        <p:sp>
          <p:nvSpPr>
            <p:cNvPr id="9" name="任意多边形: 形状 3"/>
            <p:cNvSpPr/>
            <p:nvPr/>
          </p:nvSpPr>
          <p:spPr>
            <a:xfrm>
              <a:off x="4831847" y="1415943"/>
              <a:ext cx="1008416" cy="346728"/>
            </a:xfrm>
            <a:custGeom>
              <a:avLst/>
              <a:gdLst>
                <a:gd name="connsiteX0" fmla="*/ 0 w 1008421"/>
                <a:gd name="connsiteY0" fmla="*/ 0 h 346728"/>
                <a:gd name="connsiteX1" fmla="*/ 858142 w 1008421"/>
                <a:gd name="connsiteY1" fmla="*/ 0 h 346728"/>
                <a:gd name="connsiteX2" fmla="*/ 1008421 w 1008421"/>
                <a:gd name="connsiteY2" fmla="*/ 346728 h 346728"/>
                <a:gd name="connsiteX3" fmla="*/ 0 w 1008421"/>
                <a:gd name="connsiteY3" fmla="*/ 346728 h 346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08421" h="346728">
                  <a:moveTo>
                    <a:pt x="0" y="0"/>
                  </a:moveTo>
                  <a:lnTo>
                    <a:pt x="858142" y="0"/>
                  </a:lnTo>
                  <a:lnTo>
                    <a:pt x="1008421" y="346728"/>
                  </a:lnTo>
                  <a:lnTo>
                    <a:pt x="0" y="346728"/>
                  </a:lnTo>
                  <a:close/>
                </a:path>
              </a:pathLst>
            </a:custGeom>
            <a:gradFill>
              <a:gsLst>
                <a:gs pos="0">
                  <a:srgbClr val="00468E"/>
                </a:gs>
                <a:gs pos="100000">
                  <a:srgbClr val="002A7E"/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white"/>
                </a:solidFill>
                <a:latin typeface="Roboto Regular"/>
                <a:ea typeface="思源黑体 CN Regular"/>
              </a:endParaRPr>
            </a:p>
          </p:txBody>
        </p:sp>
      </p:grpSp>
      <p:cxnSp>
        <p:nvCxnSpPr>
          <p:cNvPr id="10" name="直接连接符 4"/>
          <p:cNvCxnSpPr/>
          <p:nvPr userDrawn="1"/>
        </p:nvCxnSpPr>
        <p:spPr>
          <a:xfrm flipV="1">
            <a:off x="1312863" y="765175"/>
            <a:ext cx="10745787" cy="33338"/>
          </a:xfrm>
          <a:prstGeom prst="line">
            <a:avLst/>
          </a:prstGeom>
          <a:noFill/>
          <a:ln w="317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pic>
        <p:nvPicPr>
          <p:cNvPr id="12" name="图片 6"/>
          <p:cNvPicPr>
            <a:picLocks noChangeAspect="1"/>
          </p:cNvPicPr>
          <p:nvPr userDrawn="1"/>
        </p:nvPicPr>
        <p:blipFill rotWithShape="1">
          <a:blip r:embed="rId13" cstate="print"/>
          <a:srcRect/>
          <a:stretch>
            <a:fillRect/>
          </a:stretch>
        </p:blipFill>
        <p:spPr>
          <a:xfrm>
            <a:off x="10774710" y="132733"/>
            <a:ext cx="1235295" cy="243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7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rgbClr val="00297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462643-69A3-E2F7-E2D2-3E43D3FA3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D4E07D1-D37F-FBEB-D986-BDBCC8A6CD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9A2BE-2645-E930-DE69-21ED3671D4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90CB71-9266-4C57-97B7-C5E272BAEC92}" type="datetimeFigureOut">
              <a:rPr lang="zh-CN" altLang="en-US" smtClean="0"/>
              <a:t>2026/1/16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58FC524-24D7-EC7F-C157-97CD756D7E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21799F-7354-68F2-644A-CFB442887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1CABCE-D02D-4386-99DD-46630088FB4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76983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8AE083-F3C6-9AB9-E35B-4B5884285A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78013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 err="1"/>
              <a:t>AlayaDB</a:t>
            </a:r>
            <a:r>
              <a:rPr lang="en-US" altLang="zh-CN" dirty="0"/>
              <a:t>: The Data Foundation for Efficient and Effective Long-context LLM Inference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79727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108AFE2-D4F1-FAE2-5E6E-4BE40035275B}"/>
              </a:ext>
            </a:extLst>
          </p:cNvPr>
          <p:cNvSpPr/>
          <p:nvPr/>
        </p:nvSpPr>
        <p:spPr>
          <a:xfrm>
            <a:off x="6324600" y="1219200"/>
            <a:ext cx="4991100" cy="1003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98C068-FC79-3896-327D-8EC56C517F3A}"/>
              </a:ext>
            </a:extLst>
          </p:cNvPr>
          <p:cNvSpPr txBox="1"/>
          <p:nvPr/>
        </p:nvSpPr>
        <p:spPr>
          <a:xfrm>
            <a:off x="1244600" y="102116"/>
            <a:ext cx="339725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400" dirty="0"/>
              <a:t>Introduction</a:t>
            </a:r>
            <a:endParaRPr lang="zh-CN" altLang="en-US" sz="4400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99FD5874-FF1C-E2D2-4DA6-C2300B48E5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164" y="1265257"/>
            <a:ext cx="5828571" cy="3819048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6993979F-D733-91B8-5BFE-94F63DCB2E2B}"/>
              </a:ext>
            </a:extLst>
          </p:cNvPr>
          <p:cNvSpPr/>
          <p:nvPr/>
        </p:nvSpPr>
        <p:spPr>
          <a:xfrm>
            <a:off x="6280150" y="984191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紧耦合架构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EA8F0B48-70B5-771C-3597-88B27CC19629}"/>
              </a:ext>
            </a:extLst>
          </p:cNvPr>
          <p:cNvSpPr/>
          <p:nvPr/>
        </p:nvSpPr>
        <p:spPr>
          <a:xfrm>
            <a:off x="6324600" y="2628900"/>
            <a:ext cx="4991100" cy="1003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DB27DF8B-474F-F4C7-8A60-41D8A09F7C05}"/>
              </a:ext>
            </a:extLst>
          </p:cNvPr>
          <p:cNvSpPr/>
          <p:nvPr/>
        </p:nvSpPr>
        <p:spPr>
          <a:xfrm>
            <a:off x="6280150" y="2387422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KV Cache</a:t>
            </a:r>
            <a:r>
              <a:rPr lang="zh-CN" altLang="en-US" dirty="0"/>
              <a:t>解耦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52630BCB-85BD-E4DC-A3F6-C59CD21164F5}"/>
              </a:ext>
            </a:extLst>
          </p:cNvPr>
          <p:cNvSpPr/>
          <p:nvPr/>
        </p:nvSpPr>
        <p:spPr>
          <a:xfrm>
            <a:off x="6324600" y="4025603"/>
            <a:ext cx="4991100" cy="1003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21C920B8-C8E0-86A9-24CB-092F521AD08E}"/>
              </a:ext>
            </a:extLst>
          </p:cNvPr>
          <p:cNvSpPr/>
          <p:nvPr/>
        </p:nvSpPr>
        <p:spPr>
          <a:xfrm>
            <a:off x="6280150" y="3790653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稀疏注意力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62ECDE97-AA7E-A24A-EE4F-B9DC1B20E7CB}"/>
              </a:ext>
            </a:extLst>
          </p:cNvPr>
          <p:cNvSpPr txBox="1"/>
          <p:nvPr/>
        </p:nvSpPr>
        <p:spPr>
          <a:xfrm>
            <a:off x="6324600" y="1406466"/>
            <a:ext cx="4991100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把 模型计算 和 </a:t>
            </a:r>
            <a:r>
              <a:rPr lang="en-US" altLang="zh-CN" sz="1400" dirty="0"/>
              <a:t>KV cache </a:t>
            </a:r>
            <a:r>
              <a:rPr lang="zh-CN" altLang="en-US" sz="1400" dirty="0"/>
              <a:t>管理 完全绑在推理引擎里，使用全注意力，因此质量高、接口简单；但显存占用大、长上下文下 </a:t>
            </a:r>
            <a:r>
              <a:rPr lang="en-US" altLang="zh-CN" sz="1400" dirty="0"/>
              <a:t>TTFT </a:t>
            </a:r>
            <a:r>
              <a:rPr lang="zh-CN" altLang="en-US" sz="1400" dirty="0"/>
              <a:t>很高，扩展性差</a:t>
            </a:r>
            <a:r>
              <a:rPr lang="zh-CN" altLang="en-US" dirty="0"/>
              <a:t>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31F874D-253C-E48A-E09A-BDE499147480}"/>
              </a:ext>
            </a:extLst>
          </p:cNvPr>
          <p:cNvSpPr txBox="1"/>
          <p:nvPr/>
        </p:nvSpPr>
        <p:spPr>
          <a:xfrm>
            <a:off x="6324600" y="2850972"/>
            <a:ext cx="4991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将长上下文的 </a:t>
            </a:r>
            <a:r>
              <a:rPr lang="en-US" altLang="zh-CN" sz="1400" b="1" dirty="0"/>
              <a:t>KV cache </a:t>
            </a:r>
            <a:r>
              <a:rPr lang="zh-CN" altLang="en-US" sz="1400" b="1" dirty="0"/>
              <a:t>外置存储并复用</a:t>
            </a:r>
            <a:r>
              <a:rPr lang="zh-CN" altLang="en-US" sz="1400" dirty="0"/>
              <a:t>，能显著降低 </a:t>
            </a:r>
            <a:r>
              <a:rPr lang="en-US" altLang="zh-CN" sz="1400" b="1" dirty="0"/>
              <a:t>prefill </a:t>
            </a:r>
            <a:r>
              <a:rPr lang="zh-CN" altLang="en-US" sz="1400" b="1" dirty="0"/>
              <a:t>的 </a:t>
            </a:r>
            <a:r>
              <a:rPr lang="en-US" altLang="zh-CN" sz="1400" b="1" dirty="0"/>
              <a:t>TTFT</a:t>
            </a:r>
            <a:r>
              <a:rPr lang="zh-CN" altLang="en-US" sz="1400" dirty="0"/>
              <a:t>，生成质量仍保持全注意力水平；但需要对推理引擎做</a:t>
            </a:r>
            <a:r>
              <a:rPr lang="zh-CN" altLang="en-US" sz="1400" b="1" dirty="0"/>
              <a:t>较多侵入式改造</a:t>
            </a:r>
            <a:r>
              <a:rPr lang="zh-CN" altLang="en-US" sz="1400" dirty="0"/>
              <a:t>，且</a:t>
            </a:r>
            <a:r>
              <a:rPr lang="en-US" altLang="zh-CN" sz="1400" b="1" dirty="0"/>
              <a:t>decode </a:t>
            </a:r>
            <a:r>
              <a:rPr lang="zh-CN" altLang="en-US" sz="1400" b="1" dirty="0"/>
              <a:t>阶段显存仍然很大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AC4FA7C-B75F-33B8-F1E1-1137287F2BAA}"/>
              </a:ext>
            </a:extLst>
          </p:cNvPr>
          <p:cNvSpPr txBox="1"/>
          <p:nvPr/>
        </p:nvSpPr>
        <p:spPr>
          <a:xfrm>
            <a:off x="6324600" y="4228803"/>
            <a:ext cx="4991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从外置 </a:t>
            </a:r>
            <a:r>
              <a:rPr lang="en-US" altLang="zh-CN" sz="1400" dirty="0"/>
              <a:t>KV cache </a:t>
            </a:r>
            <a:r>
              <a:rPr lang="zh-CN" altLang="en-US" sz="1400" dirty="0"/>
              <a:t>中</a:t>
            </a:r>
            <a:r>
              <a:rPr lang="zh-CN" altLang="en-US" sz="1400" b="1" dirty="0"/>
              <a:t>检索少量关键 </a:t>
            </a:r>
            <a:r>
              <a:rPr lang="en-US" altLang="zh-CN" sz="1400" b="1" dirty="0"/>
              <a:t>Key/Value</a:t>
            </a:r>
            <a:r>
              <a:rPr lang="zh-CN" altLang="en-US" sz="1400" dirty="0"/>
              <a:t>做注意力计算，可大幅降低显存；但检索机制往往</a:t>
            </a:r>
            <a:r>
              <a:rPr lang="zh-CN" altLang="en-US" sz="1400" b="1" dirty="0"/>
              <a:t>绑定特定模型、难复用长上下文</a:t>
            </a:r>
            <a:r>
              <a:rPr lang="zh-CN" altLang="en-US" sz="1400" dirty="0"/>
              <a:t>，并且在</a:t>
            </a:r>
            <a:r>
              <a:rPr lang="zh-CN" altLang="en-US" sz="1400" b="1" dirty="0"/>
              <a:t>质量与延迟之间权衡明显</a:t>
            </a:r>
            <a:r>
              <a:rPr lang="zh-CN" altLang="en-US" sz="1400" dirty="0"/>
              <a:t>。</a:t>
            </a:r>
            <a:endParaRPr lang="zh-CN" altLang="en-US" dirty="0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537FB5E-67DA-A272-E592-EB3A7BFAB047}"/>
              </a:ext>
            </a:extLst>
          </p:cNvPr>
          <p:cNvSpPr/>
          <p:nvPr/>
        </p:nvSpPr>
        <p:spPr>
          <a:xfrm>
            <a:off x="6324600" y="5498803"/>
            <a:ext cx="4991100" cy="1003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FC8AB50-05B0-8843-6591-92F556613C91}"/>
              </a:ext>
            </a:extLst>
          </p:cNvPr>
          <p:cNvSpPr/>
          <p:nvPr/>
        </p:nvSpPr>
        <p:spPr>
          <a:xfrm>
            <a:off x="6280150" y="5263853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err="1"/>
              <a:t>AlayaDB</a:t>
            </a:r>
            <a:endParaRPr lang="zh-CN" altLang="en-US" dirty="0"/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407137A5-90BC-A5EB-2726-96909F0320ED}"/>
              </a:ext>
            </a:extLst>
          </p:cNvPr>
          <p:cNvSpPr txBox="1"/>
          <p:nvPr/>
        </p:nvSpPr>
        <p:spPr>
          <a:xfrm>
            <a:off x="6413500" y="5802343"/>
            <a:ext cx="49911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注意力计算外置</a:t>
            </a:r>
            <a:endParaRPr lang="en-US" altLang="zh-CN" sz="1400" dirty="0"/>
          </a:p>
          <a:p>
            <a:r>
              <a:rPr lang="zh-CN" altLang="en-US" sz="1400" dirty="0"/>
              <a:t>更好的关键</a:t>
            </a:r>
            <a:r>
              <a:rPr lang="en-US" altLang="zh-CN" sz="1400" dirty="0"/>
              <a:t>token</a:t>
            </a:r>
            <a:r>
              <a:rPr lang="zh-CN" altLang="en-US" sz="1400" dirty="0"/>
              <a:t>检索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738770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FCBFF6-4562-95AA-05D0-D3924CBB2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Overview</a:t>
            </a: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B84320-FB37-4604-05EF-66FB034B0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485" y="1460707"/>
            <a:ext cx="4771429" cy="3314286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A7BD79EC-7C85-9C4C-C103-E91123EE844E}"/>
              </a:ext>
            </a:extLst>
          </p:cNvPr>
          <p:cNvSpPr/>
          <p:nvPr/>
        </p:nvSpPr>
        <p:spPr>
          <a:xfrm>
            <a:off x="6324600" y="1219200"/>
            <a:ext cx="4991100" cy="1003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4B758EF3-E01E-519A-DC5E-E6863F29ADF6}"/>
              </a:ext>
            </a:extLst>
          </p:cNvPr>
          <p:cNvSpPr/>
          <p:nvPr/>
        </p:nvSpPr>
        <p:spPr>
          <a:xfrm>
            <a:off x="6280150" y="984191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用户接口层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1C38248-26A4-2AA5-4EA0-D9E65548E6A4}"/>
              </a:ext>
            </a:extLst>
          </p:cNvPr>
          <p:cNvSpPr/>
          <p:nvPr/>
        </p:nvSpPr>
        <p:spPr>
          <a:xfrm>
            <a:off x="6324600" y="2628900"/>
            <a:ext cx="4991100" cy="1003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CDADE367-7071-DACC-CB82-22C5E8BA3E7C}"/>
              </a:ext>
            </a:extLst>
          </p:cNvPr>
          <p:cNvSpPr/>
          <p:nvPr/>
        </p:nvSpPr>
        <p:spPr>
          <a:xfrm>
            <a:off x="6280150" y="2387422"/>
            <a:ext cx="18669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查询处理引擎层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9287614-B0CC-22C4-9D99-43F318E32B08}"/>
              </a:ext>
            </a:extLst>
          </p:cNvPr>
          <p:cNvSpPr/>
          <p:nvPr/>
        </p:nvSpPr>
        <p:spPr>
          <a:xfrm>
            <a:off x="6324600" y="4025603"/>
            <a:ext cx="4991100" cy="10033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8C9E5F-FA66-F80A-4483-A90A3D8DC13D}"/>
              </a:ext>
            </a:extLst>
          </p:cNvPr>
          <p:cNvSpPr/>
          <p:nvPr/>
        </p:nvSpPr>
        <p:spPr>
          <a:xfrm>
            <a:off x="6280150" y="3790653"/>
            <a:ext cx="18669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向量存储引擎层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C899B14E-E3ED-3F65-0935-EACF577B30C2}"/>
              </a:ext>
            </a:extLst>
          </p:cNvPr>
          <p:cNvSpPr txBox="1"/>
          <p:nvPr/>
        </p:nvSpPr>
        <p:spPr>
          <a:xfrm>
            <a:off x="6324600" y="1406466"/>
            <a:ext cx="4991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对“</a:t>
            </a:r>
            <a:r>
              <a:rPr lang="en-US" altLang="zh-CN" sz="1400" dirty="0"/>
              <a:t>KV cache </a:t>
            </a:r>
            <a:r>
              <a:rPr lang="zh-CN" altLang="en-US" sz="1400" dirty="0"/>
              <a:t>管理 </a:t>
            </a:r>
            <a:r>
              <a:rPr lang="en-US" altLang="zh-CN" sz="1400" dirty="0"/>
              <a:t>+ </a:t>
            </a:r>
            <a:r>
              <a:rPr lang="zh-CN" altLang="en-US" sz="1400" dirty="0"/>
              <a:t>注意力计算”做抽象封装，提供简单易用、与现有推理框架兼容的 </a:t>
            </a:r>
            <a:r>
              <a:rPr lang="en-US" altLang="zh-CN" sz="1400" dirty="0"/>
              <a:t>API</a:t>
            </a:r>
            <a:r>
              <a:rPr lang="zh-CN" altLang="en-US" sz="1400" dirty="0"/>
              <a:t>，方便开发者导入</a:t>
            </a:r>
            <a:r>
              <a:rPr lang="en-US" altLang="zh-CN" sz="1400" dirty="0"/>
              <a:t>/</a:t>
            </a:r>
            <a:r>
              <a:rPr lang="zh-CN" altLang="en-US" sz="1400" dirty="0"/>
              <a:t>复用上下文并调用注意力计算。</a:t>
            </a:r>
            <a:endParaRPr lang="zh-CN" altLang="en-US" dirty="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C772DDB-F818-1935-2FD1-0917E5B65AFC}"/>
              </a:ext>
            </a:extLst>
          </p:cNvPr>
          <p:cNvSpPr txBox="1"/>
          <p:nvPr/>
        </p:nvSpPr>
        <p:spPr>
          <a:xfrm>
            <a:off x="6324600" y="2850972"/>
            <a:ext cx="4991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把稀疏注意力视为查询处理任务，负责“关键 </a:t>
            </a:r>
            <a:r>
              <a:rPr lang="en-US" altLang="zh-CN" sz="1400" dirty="0"/>
              <a:t>token </a:t>
            </a:r>
            <a:r>
              <a:rPr lang="zh-CN" altLang="en-US" sz="1400" dirty="0"/>
              <a:t>检索 </a:t>
            </a:r>
            <a:r>
              <a:rPr lang="en-US" altLang="zh-CN" sz="1400" dirty="0"/>
              <a:t>+ </a:t>
            </a:r>
            <a:r>
              <a:rPr lang="zh-CN" altLang="en-US" sz="1400" dirty="0"/>
              <a:t>注意力计算”的核心执行，并通过原生查询优化器选择最优查询与索引组合，以兼顾生成质量与效率。</a:t>
            </a:r>
            <a:endParaRPr lang="zh-CN" altLang="en-US" dirty="0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8FDBAB6F-CD3F-12D4-A4C0-83ED4ECB6ADC}"/>
              </a:ext>
            </a:extLst>
          </p:cNvPr>
          <p:cNvSpPr txBox="1"/>
          <p:nvPr/>
        </p:nvSpPr>
        <p:spPr>
          <a:xfrm>
            <a:off x="6324600" y="4228803"/>
            <a:ext cx="49911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/>
              <a:t>负责 </a:t>
            </a:r>
            <a:r>
              <a:rPr lang="en-US" altLang="zh-CN" sz="1400" dirty="0"/>
              <a:t>KV cache </a:t>
            </a:r>
            <a:r>
              <a:rPr lang="zh-CN" altLang="en-US" sz="1400" dirty="0"/>
              <a:t>的底层存储与数据访问优化，提供缓冲管理与向量文件布局优化，提升数据局部性与读取性能，从而降低显存压力与推理延迟。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046939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EE2D4-C0EE-D3CA-8CE6-C3AED200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EF0256-1980-4F5C-5E1F-82D701B668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用户接口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001C5FEF-4E59-E04B-5A75-EDBA585BB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1721" y="1016307"/>
            <a:ext cx="4942857" cy="4914286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14374E4B-411D-F3AA-BDE1-267438717D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307" y="2032135"/>
            <a:ext cx="5114286" cy="21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02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816AD-F4EF-11C8-53A4-3E308B859D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>
            <a:extLst>
              <a:ext uri="{FF2B5EF4-FFF2-40B4-BE49-F238E27FC236}">
                <a16:creationId xmlns:a16="http://schemas.microsoft.com/office/drawing/2014/main" id="{83D95A89-97F9-F896-E29B-2B7A60D8C0C5}"/>
              </a:ext>
            </a:extLst>
          </p:cNvPr>
          <p:cNvSpPr/>
          <p:nvPr/>
        </p:nvSpPr>
        <p:spPr>
          <a:xfrm>
            <a:off x="6299550" y="1222197"/>
            <a:ext cx="5600000" cy="48387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CF9BAA-E65A-18D1-DE5F-213DE37BAE60}"/>
              </a:ext>
            </a:extLst>
          </p:cNvPr>
          <p:cNvSpPr/>
          <p:nvPr/>
        </p:nvSpPr>
        <p:spPr>
          <a:xfrm>
            <a:off x="317850" y="1222197"/>
            <a:ext cx="5600000" cy="4838738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2C6FEA9-BC59-97A5-CCBE-AFA4A3404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6513" y="443220"/>
            <a:ext cx="9132887" cy="48418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查询处理引擎层</a:t>
            </a:r>
            <a:br>
              <a:rPr lang="zh-CN" altLang="en-US" dirty="0"/>
            </a:br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76A6D19-5E10-BD9B-4277-98E242850C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506" y="3718064"/>
            <a:ext cx="5511450" cy="222857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CCCF8615-9C0D-9784-4CCD-36D034DF8F81}"/>
              </a:ext>
            </a:extLst>
          </p:cNvPr>
          <p:cNvSpPr/>
          <p:nvPr/>
        </p:nvSpPr>
        <p:spPr>
          <a:xfrm>
            <a:off x="267050" y="1003122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观察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00E172-01A6-F41E-E3BA-9A3423532727}"/>
              </a:ext>
            </a:extLst>
          </p:cNvPr>
          <p:cNvSpPr txBox="1"/>
          <p:nvPr/>
        </p:nvSpPr>
        <p:spPr>
          <a:xfrm>
            <a:off x="514350" y="1808033"/>
            <a:ext cx="504825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观察 </a:t>
            </a:r>
            <a:r>
              <a:rPr lang="en-US" altLang="zh-CN" dirty="0"/>
              <a:t>I</a:t>
            </a:r>
            <a:r>
              <a:rPr lang="zh-CN" altLang="en-US" dirty="0"/>
              <a:t>：不同 </a:t>
            </a:r>
            <a:r>
              <a:rPr lang="en-US" altLang="zh-CN" dirty="0"/>
              <a:t>head </a:t>
            </a:r>
            <a:r>
              <a:rPr lang="zh-CN" altLang="en-US" dirty="0"/>
              <a:t>所需的关键 </a:t>
            </a:r>
            <a:r>
              <a:rPr lang="en-US" altLang="zh-CN" dirty="0"/>
              <a:t>token </a:t>
            </a:r>
            <a:r>
              <a:rPr lang="zh-CN" altLang="en-US" dirty="0"/>
              <a:t>数量差异显著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dirty="0"/>
              <a:t>观察 </a:t>
            </a:r>
            <a:r>
              <a:rPr lang="en-US" altLang="zh-CN" dirty="0"/>
              <a:t>II</a:t>
            </a:r>
            <a:r>
              <a:rPr lang="zh-CN" altLang="en-US" dirty="0"/>
              <a:t>：不同任务所需的关键 </a:t>
            </a:r>
            <a:r>
              <a:rPr lang="en-US" altLang="zh-CN" dirty="0"/>
              <a:t>token </a:t>
            </a:r>
            <a:r>
              <a:rPr lang="zh-CN" altLang="en-US" dirty="0"/>
              <a:t>数量不同</a:t>
            </a:r>
            <a:endParaRPr lang="en-US" altLang="zh-CN" dirty="0"/>
          </a:p>
          <a:p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DAE4FA29-0E2D-1B17-4226-077C257FC6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3836" y="1839518"/>
            <a:ext cx="2485714" cy="428571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B9EC2B7D-997A-C916-664A-CFB23D571422}"/>
              </a:ext>
            </a:extLst>
          </p:cNvPr>
          <p:cNvSpPr/>
          <p:nvPr/>
        </p:nvSpPr>
        <p:spPr>
          <a:xfrm>
            <a:off x="6274152" y="965264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方法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AFB3CAF-2F3E-2A54-D2D3-14D81D57AF33}"/>
              </a:ext>
            </a:extLst>
          </p:cNvPr>
          <p:cNvSpPr txBox="1"/>
          <p:nvPr/>
        </p:nvSpPr>
        <p:spPr>
          <a:xfrm>
            <a:off x="6493227" y="1475681"/>
            <a:ext cx="504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通过</a:t>
            </a:r>
            <a:r>
              <a:rPr lang="en-US" altLang="zh-CN" dirty="0"/>
              <a:t>DIPR</a:t>
            </a:r>
            <a:r>
              <a:rPr lang="zh-CN" altLang="en-US" dirty="0"/>
              <a:t>算法搜索所有满足的</a:t>
            </a:r>
            <a:r>
              <a:rPr lang="en-US" altLang="zh-CN" dirty="0"/>
              <a:t>token</a:t>
            </a:r>
            <a:r>
              <a:rPr lang="zh-CN" altLang="en-US" dirty="0"/>
              <a:t>：</a:t>
            </a:r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908F2E4A-73EF-660C-0FC4-57E993FCF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227" y="2408197"/>
            <a:ext cx="4735129" cy="3369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92022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D36E1A-4DDE-D40A-7927-31ED2D2E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0163" y="499747"/>
            <a:ext cx="8832273" cy="484187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向量存储引擎层</a:t>
            </a:r>
            <a:br>
              <a:rPr lang="zh-CN" altLang="en-US" dirty="0"/>
            </a:br>
            <a:endParaRPr lang="zh-CN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BC5A4D0-8BCF-DE3B-7B94-12C96E4BE81F}"/>
              </a:ext>
            </a:extLst>
          </p:cNvPr>
          <p:cNvSpPr/>
          <p:nvPr/>
        </p:nvSpPr>
        <p:spPr>
          <a:xfrm>
            <a:off x="317850" y="1222197"/>
            <a:ext cx="5600000" cy="20988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DCEFB4B-3B21-EA15-F4BA-5C338E9145BE}"/>
              </a:ext>
            </a:extLst>
          </p:cNvPr>
          <p:cNvSpPr/>
          <p:nvPr/>
        </p:nvSpPr>
        <p:spPr>
          <a:xfrm>
            <a:off x="267050" y="1003122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索引构建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D04F64C-5202-EFA2-425A-4B24A0B7B23F}"/>
              </a:ext>
            </a:extLst>
          </p:cNvPr>
          <p:cNvSpPr txBox="1"/>
          <p:nvPr/>
        </p:nvSpPr>
        <p:spPr>
          <a:xfrm>
            <a:off x="488950" y="1587500"/>
            <a:ext cx="51054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 err="1"/>
              <a:t>q→k</a:t>
            </a:r>
            <a:r>
              <a:rPr lang="en-US" altLang="zh-CN" b="1" dirty="0"/>
              <a:t> exact </a:t>
            </a:r>
            <a:r>
              <a:rPr lang="en-US" altLang="zh-CN" b="1" dirty="0" err="1"/>
              <a:t>kNN</a:t>
            </a:r>
            <a:r>
              <a:rPr lang="en-US" altLang="zh-CN" b="1" dirty="0"/>
              <a:t> </a:t>
            </a:r>
            <a:r>
              <a:rPr lang="zh-CN" altLang="en-US" b="1" dirty="0"/>
              <a:t>构建</a:t>
            </a:r>
            <a:r>
              <a:rPr lang="zh-CN" altLang="en-US" dirty="0"/>
              <a:t>：对一批 </a:t>
            </a:r>
            <a:r>
              <a:rPr lang="en-US" altLang="zh-CN" dirty="0"/>
              <a:t>query </a:t>
            </a:r>
            <a:r>
              <a:rPr lang="zh-CN" altLang="en-US" dirty="0"/>
              <a:t>向量，找其精确最近的 </a:t>
            </a:r>
            <a:r>
              <a:rPr lang="en-US" altLang="zh-CN" dirty="0"/>
              <a:t>key </a:t>
            </a:r>
            <a:r>
              <a:rPr lang="zh-CN" altLang="en-US" dirty="0"/>
              <a:t>向量，形成初始近邻结构。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连通性增强</a:t>
            </a:r>
            <a:r>
              <a:rPr lang="zh-CN" altLang="en-US" dirty="0"/>
              <a:t>：在初始图上做近似搜索补边，使图更可导航、检索更稳定。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708F23C-9A50-D9C8-8FA0-F75C75268314}"/>
              </a:ext>
            </a:extLst>
          </p:cNvPr>
          <p:cNvSpPr/>
          <p:nvPr/>
        </p:nvSpPr>
        <p:spPr>
          <a:xfrm>
            <a:off x="6145750" y="1219975"/>
            <a:ext cx="5600000" cy="20988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C2E1F82-9430-DAC7-9568-5269843BCFEB}"/>
              </a:ext>
            </a:extLst>
          </p:cNvPr>
          <p:cNvSpPr/>
          <p:nvPr/>
        </p:nvSpPr>
        <p:spPr>
          <a:xfrm>
            <a:off x="6094950" y="1000900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索引优化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511F9D0A-BE74-09A5-BDD4-7A5E7DFFC608}"/>
              </a:ext>
            </a:extLst>
          </p:cNvPr>
          <p:cNvSpPr txBox="1"/>
          <p:nvPr/>
        </p:nvSpPr>
        <p:spPr>
          <a:xfrm>
            <a:off x="6145750" y="1432700"/>
            <a:ext cx="544195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索引共享</a:t>
            </a:r>
            <a:r>
              <a:rPr lang="zh-CN" altLang="en-US" dirty="0"/>
              <a:t>：利用 </a:t>
            </a:r>
            <a:r>
              <a:rPr lang="en-US" altLang="zh-CN" dirty="0"/>
              <a:t>GQA/MQA </a:t>
            </a:r>
            <a:r>
              <a:rPr lang="zh-CN" altLang="en-US" dirty="0"/>
              <a:t>的结构，把同一 </a:t>
            </a:r>
            <a:r>
              <a:rPr lang="en-US" altLang="zh-CN" dirty="0"/>
              <a:t>query group </a:t>
            </a:r>
            <a:r>
              <a:rPr lang="zh-CN" altLang="en-US" dirty="0"/>
              <a:t>的多个 </a:t>
            </a:r>
            <a:r>
              <a:rPr lang="en-US" altLang="zh-CN" dirty="0"/>
              <a:t>head </a:t>
            </a:r>
            <a:r>
              <a:rPr lang="zh-CN" altLang="en-US" dirty="0"/>
              <a:t>合并共享一张 </a:t>
            </a:r>
            <a:r>
              <a:rPr lang="en-US" altLang="zh-CN" dirty="0" err="1"/>
              <a:t>RoarGraph</a:t>
            </a:r>
            <a:r>
              <a:rPr lang="zh-CN" altLang="en-US" dirty="0"/>
              <a:t>，显著减少索引数量，换取很小 </a:t>
            </a:r>
            <a:r>
              <a:rPr lang="en-US" altLang="zh-CN" dirty="0"/>
              <a:t>recall </a:t>
            </a:r>
            <a:r>
              <a:rPr lang="zh-CN" altLang="en-US" dirty="0"/>
              <a:t>损失。</a:t>
            </a:r>
            <a:endParaRPr lang="en-US" altLang="zh-CN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GPU </a:t>
            </a:r>
            <a:r>
              <a:rPr lang="zh-CN" altLang="en-US" b="1" dirty="0"/>
              <a:t>加速 </a:t>
            </a:r>
            <a:r>
              <a:rPr lang="en-US" altLang="zh-CN" b="1" dirty="0" err="1"/>
              <a:t>kNN</a:t>
            </a:r>
            <a:r>
              <a:rPr lang="zh-CN" altLang="en-US" dirty="0"/>
              <a:t>：用 </a:t>
            </a:r>
            <a:r>
              <a:rPr lang="en-US" altLang="zh-CN" dirty="0"/>
              <a:t>NVIDIA </a:t>
            </a:r>
            <a:r>
              <a:rPr lang="en-US" altLang="zh-CN" dirty="0" err="1"/>
              <a:t>cuVS</a:t>
            </a:r>
            <a:r>
              <a:rPr lang="en-US" altLang="zh-CN" dirty="0"/>
              <a:t> </a:t>
            </a:r>
            <a:r>
              <a:rPr lang="zh-CN" altLang="en-US" dirty="0"/>
              <a:t>在 </a:t>
            </a:r>
            <a:r>
              <a:rPr lang="en-US" altLang="zh-CN" dirty="0"/>
              <a:t>GPU </a:t>
            </a:r>
            <a:r>
              <a:rPr lang="zh-CN" altLang="en-US" dirty="0"/>
              <a:t>上并行加速 </a:t>
            </a:r>
            <a:r>
              <a:rPr lang="en-US" altLang="zh-CN" dirty="0" err="1"/>
              <a:t>kNN</a:t>
            </a:r>
            <a:r>
              <a:rPr lang="en-US" altLang="zh-CN" dirty="0"/>
              <a:t> </a:t>
            </a:r>
            <a:r>
              <a:rPr lang="zh-CN" altLang="en-US" dirty="0"/>
              <a:t>构建；以 </a:t>
            </a:r>
            <a:r>
              <a:rPr lang="en-US" altLang="zh-CN" dirty="0"/>
              <a:t>layer </a:t>
            </a:r>
            <a:r>
              <a:rPr lang="zh-CN" altLang="en-US" dirty="0"/>
              <a:t>为粒度流水化，重叠 </a:t>
            </a:r>
            <a:r>
              <a:rPr lang="en-US" altLang="zh-CN" dirty="0"/>
              <a:t>CPU-GPU </a:t>
            </a:r>
            <a:r>
              <a:rPr lang="zh-CN" altLang="en-US" dirty="0"/>
              <a:t>传输与计算，降低离线构建耗时。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12CFE05-4F84-5964-9BA3-6AB409C68319}"/>
              </a:ext>
            </a:extLst>
          </p:cNvPr>
          <p:cNvSpPr/>
          <p:nvPr/>
        </p:nvSpPr>
        <p:spPr>
          <a:xfrm>
            <a:off x="317850" y="4041597"/>
            <a:ext cx="5600000" cy="20988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8D1C370-C770-3EBC-42F0-264AE68EBF5D}"/>
              </a:ext>
            </a:extLst>
          </p:cNvPr>
          <p:cNvSpPr/>
          <p:nvPr/>
        </p:nvSpPr>
        <p:spPr>
          <a:xfrm>
            <a:off x="267050" y="3822522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辅助索引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71B0590B-83FD-0B87-F17C-840AD226E374}"/>
              </a:ext>
            </a:extLst>
          </p:cNvPr>
          <p:cNvSpPr txBox="1"/>
          <p:nvPr/>
        </p:nvSpPr>
        <p:spPr>
          <a:xfrm>
            <a:off x="444500" y="4555350"/>
            <a:ext cx="510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块级索引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b="1" dirty="0"/>
              <a:t>key </a:t>
            </a:r>
            <a:r>
              <a:rPr lang="zh-CN" altLang="en-US" b="1" dirty="0"/>
              <a:t>级图索引</a:t>
            </a:r>
            <a:endParaRPr lang="en-US" altLang="zh-CN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b="1" dirty="0"/>
              <a:t>全扫描</a:t>
            </a:r>
            <a:endParaRPr lang="en-US" altLang="zh-CN" b="1" dirty="0"/>
          </a:p>
          <a:p>
            <a:endParaRPr lang="zh-CN" altLang="en-US" dirty="0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CA5CA3F3-550E-B117-9F2C-DD17132B546E}"/>
              </a:ext>
            </a:extLst>
          </p:cNvPr>
          <p:cNvSpPr/>
          <p:nvPr/>
        </p:nvSpPr>
        <p:spPr>
          <a:xfrm>
            <a:off x="6227250" y="4041597"/>
            <a:ext cx="5600000" cy="209885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EA96B21-8777-B3C9-7F85-FB2B49641DD0}"/>
              </a:ext>
            </a:extLst>
          </p:cNvPr>
          <p:cNvSpPr/>
          <p:nvPr/>
        </p:nvSpPr>
        <p:spPr>
          <a:xfrm>
            <a:off x="6180350" y="3791796"/>
            <a:ext cx="1651000" cy="4381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缓冲管理器</a:t>
            </a:r>
          </a:p>
        </p:txBody>
      </p:sp>
      <p:sp>
        <p:nvSpPr>
          <p:cNvPr id="17" name="Rectangle 3">
            <a:extLst>
              <a:ext uri="{FF2B5EF4-FFF2-40B4-BE49-F238E27FC236}">
                <a16:creationId xmlns:a16="http://schemas.microsoft.com/office/drawing/2014/main" id="{1DE6F28A-D74C-E117-AB19-F77E0F8877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21052" y="4139851"/>
            <a:ext cx="5553098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按块类型区分缓存优先级与淘汰策略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索引块：更倾向长期保留（高复用）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     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数据块：按需加载、尽量避免重复拉取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高性能检索读取路径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：为 key/value 的快速检索与加载服务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zh-CN" altLang="zh-CN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并行访问支持</a:t>
            </a:r>
            <a:r>
              <a:rPr kumimoji="0" lang="zh-CN" altLang="zh-CN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：多线程推理下并行读写，提高吞吐，减少阻塞</a:t>
            </a:r>
          </a:p>
        </p:txBody>
      </p:sp>
    </p:spTree>
    <p:extLst>
      <p:ext uri="{BB962C8B-B14F-4D97-AF65-F5344CB8AC3E}">
        <p14:creationId xmlns:p14="http://schemas.microsoft.com/office/powerpoint/2010/main" val="27562766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9D2702-A638-C2EF-EE82-BAD872543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E5CC0B-590A-A5E4-1C84-F95D8CC25F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125B1566-2A12-3EEA-341D-1D86945045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36" y="1630163"/>
            <a:ext cx="11654414" cy="20150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36601A1-88C0-B891-64E4-69A021DA5C77}"/>
              </a:ext>
            </a:extLst>
          </p:cNvPr>
          <p:cNvSpPr txBox="1"/>
          <p:nvPr/>
        </p:nvSpPr>
        <p:spPr>
          <a:xfrm>
            <a:off x="455036" y="1036935"/>
            <a:ext cx="9690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Q1: Can </a:t>
            </a:r>
            <a:r>
              <a:rPr lang="en-US" altLang="zh-CN" dirty="0" err="1"/>
              <a:t>AlayaDB</a:t>
            </a:r>
            <a:r>
              <a:rPr lang="en-US" altLang="zh-CN" dirty="0"/>
              <a:t> achieve low latency, high quality, and low resource consumption at the same time for long-context LLM serving? </a:t>
            </a:r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AA9C42-3AED-7C14-04B7-4744EB45C8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936" y="4062550"/>
            <a:ext cx="5885714" cy="220000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F6BD2D22-942C-0E32-CB6D-54AC0F14F3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286" y="3870471"/>
            <a:ext cx="5885714" cy="2342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88474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D81C32-20CF-20D9-CBD2-084A9A068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实验结果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2349504-A997-38EA-071B-EB0F2821A2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236" y="1630163"/>
            <a:ext cx="11654414" cy="20150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4D9238F-F01E-4CC3-A6BF-145FCCCB34B9}"/>
              </a:ext>
            </a:extLst>
          </p:cNvPr>
          <p:cNvSpPr txBox="1"/>
          <p:nvPr/>
        </p:nvSpPr>
        <p:spPr>
          <a:xfrm>
            <a:off x="455036" y="1036935"/>
            <a:ext cx="96901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Q1: Can </a:t>
            </a:r>
            <a:r>
              <a:rPr lang="en-US" altLang="zh-CN" dirty="0" err="1"/>
              <a:t>AlayaDB</a:t>
            </a:r>
            <a:r>
              <a:rPr lang="en-US" altLang="zh-CN" dirty="0"/>
              <a:t> achieve low latency, high quality, and low resource consumption at the same time for long-context LLM serving? </a:t>
            </a:r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EE15818-3895-9BDE-EEDA-E7E0804DEA39}"/>
              </a:ext>
            </a:extLst>
          </p:cNvPr>
          <p:cNvSpPr txBox="1"/>
          <p:nvPr/>
        </p:nvSpPr>
        <p:spPr>
          <a:xfrm>
            <a:off x="404236" y="3835577"/>
            <a:ext cx="9577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Q2: How is the effectiveness of our proposed performance optimizations in </a:t>
            </a:r>
            <a:r>
              <a:rPr lang="en-US" altLang="zh-CN" dirty="0" err="1"/>
              <a:t>AlayaDB</a:t>
            </a:r>
            <a:r>
              <a:rPr lang="en-US" altLang="zh-CN" dirty="0"/>
              <a:t>?</a:t>
            </a:r>
            <a:endParaRPr lang="zh-CN" alt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7C47AECE-CC68-B612-596F-6A0D6B2B0E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3612" y="4148753"/>
            <a:ext cx="5790476" cy="2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99022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86</TotalTime>
  <Words>600</Words>
  <Application>Microsoft Office PowerPoint</Application>
  <PresentationFormat>宽屏</PresentationFormat>
  <Paragraphs>47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15" baseType="lpstr">
      <vt:lpstr>Roboto Regular</vt:lpstr>
      <vt:lpstr>等线</vt:lpstr>
      <vt:lpstr>等线 Light</vt:lpstr>
      <vt:lpstr>Arial</vt:lpstr>
      <vt:lpstr>Calibri Light</vt:lpstr>
      <vt:lpstr>Custom Design</vt:lpstr>
      <vt:lpstr>Office 主题​​</vt:lpstr>
      <vt:lpstr>AlayaDB: The Data Foundation for Efficient and Effective Long-context LLM Inference</vt:lpstr>
      <vt:lpstr>PowerPoint 演示文稿</vt:lpstr>
      <vt:lpstr>Overview</vt:lpstr>
      <vt:lpstr>用户接口</vt:lpstr>
      <vt:lpstr>查询处理引擎层 </vt:lpstr>
      <vt:lpstr>向量存储引擎层 </vt:lpstr>
      <vt:lpstr>实验结果</vt:lpstr>
      <vt:lpstr>实验结果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yuchong wu</dc:creator>
  <cp:lastModifiedBy>yuchong wu</cp:lastModifiedBy>
  <cp:revision>2</cp:revision>
  <dcterms:created xsi:type="dcterms:W3CDTF">2026-01-16T05:15:40Z</dcterms:created>
  <dcterms:modified xsi:type="dcterms:W3CDTF">2026-01-16T06:42:15Z</dcterms:modified>
</cp:coreProperties>
</file>