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</p:sldMasterIdLst>
  <p:notesMasterIdLst>
    <p:notesMasterId r:id="rId26"/>
  </p:notesMasterIdLst>
  <p:sldIdLst>
    <p:sldId id="256" r:id="rId25"/>
    <p:sldId id="259" r:id="rId27"/>
    <p:sldId id="304" r:id="rId28"/>
    <p:sldId id="267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9" r:id="rId41"/>
    <p:sldId id="316" r:id="rId42"/>
    <p:sldId id="320" r:id="rId43"/>
    <p:sldId id="317" r:id="rId44"/>
    <p:sldId id="321" r:id="rId45"/>
    <p:sldId id="318" r:id="rId46"/>
    <p:sldId id="322" r:id="rId47"/>
    <p:sldId id="323" r:id="rId48"/>
    <p:sldId id="324" r:id="rId49"/>
    <p:sldId id="325" r:id="rId50"/>
  </p:sldIdLst>
  <p:sldSz cx="12192000" cy="6858000"/>
  <p:notesSz cx="6858000" cy="9144000"/>
  <p:custDataLst>
    <p:tags r:id="rId5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662484537" name="晏健鑫" initials="晏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5" Type="http://schemas.openxmlformats.org/officeDocument/2006/relationships/tags" Target="tags/tag1.xml"/><Relationship Id="rId54" Type="http://schemas.openxmlformats.org/officeDocument/2006/relationships/commentAuthors" Target="commentAuthors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2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4.xml"/><Relationship Id="rId48" Type="http://schemas.openxmlformats.org/officeDocument/2006/relationships/slide" Target="slides/slide23.xml"/><Relationship Id="rId47" Type="http://schemas.openxmlformats.org/officeDocument/2006/relationships/slide" Target="slides/slide22.xml"/><Relationship Id="rId46" Type="http://schemas.openxmlformats.org/officeDocument/2006/relationships/slide" Target="slides/slide21.xml"/><Relationship Id="rId45" Type="http://schemas.openxmlformats.org/officeDocument/2006/relationships/slide" Target="slides/slide20.xml"/><Relationship Id="rId44" Type="http://schemas.openxmlformats.org/officeDocument/2006/relationships/slide" Target="slides/slide19.xml"/><Relationship Id="rId43" Type="http://schemas.openxmlformats.org/officeDocument/2006/relationships/slide" Target="slides/slide18.xml"/><Relationship Id="rId42" Type="http://schemas.openxmlformats.org/officeDocument/2006/relationships/slide" Target="slides/slide17.xml"/><Relationship Id="rId41" Type="http://schemas.openxmlformats.org/officeDocument/2006/relationships/slide" Target="slides/slide16.xml"/><Relationship Id="rId40" Type="http://schemas.openxmlformats.org/officeDocument/2006/relationships/slide" Target="slides/slide1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4.xml"/><Relationship Id="rId38" Type="http://schemas.openxmlformats.org/officeDocument/2006/relationships/slide" Target="slides/slide13.xml"/><Relationship Id="rId37" Type="http://schemas.openxmlformats.org/officeDocument/2006/relationships/slide" Target="slides/slide12.xml"/><Relationship Id="rId36" Type="http://schemas.openxmlformats.org/officeDocument/2006/relationships/slide" Target="slides/slide11.xml"/><Relationship Id="rId35" Type="http://schemas.openxmlformats.org/officeDocument/2006/relationships/slide" Target="slides/slide10.xml"/><Relationship Id="rId34" Type="http://schemas.openxmlformats.org/officeDocument/2006/relationships/slide" Target="slides/slide9.xml"/><Relationship Id="rId33" Type="http://schemas.openxmlformats.org/officeDocument/2006/relationships/slide" Target="slides/slide8.xml"/><Relationship Id="rId32" Type="http://schemas.openxmlformats.org/officeDocument/2006/relationships/slide" Target="slides/slide7.xml"/><Relationship Id="rId31" Type="http://schemas.openxmlformats.org/officeDocument/2006/relationships/slide" Target="slides/slide6.xml"/><Relationship Id="rId30" Type="http://schemas.openxmlformats.org/officeDocument/2006/relationships/slide" Target="slides/slide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4.xml"/><Relationship Id="rId28" Type="http://schemas.openxmlformats.org/officeDocument/2006/relationships/slide" Target="slides/slide3.xml"/><Relationship Id="rId27" Type="http://schemas.openxmlformats.org/officeDocument/2006/relationships/slide" Target="slides/slide2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1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100000"/>
          </a:blip>
          <a:srcRect l="12597" t="46423" r="3226" b="26662"/>
          <a:stretch>
            <a:fillRect/>
          </a:stretch>
        </p:blipFill>
        <p:spPr>
          <a:xfrm>
            <a:off x="0" y="3921666"/>
            <a:ext cx="12192000" cy="2936335"/>
          </a:xfrm>
          <a:custGeom>
            <a:avLst/>
            <a:gdLst>
              <a:gd name="connsiteX0" fmla="*/ 0 w 12192000"/>
              <a:gd name="connsiteY0" fmla="*/ 0 h 2936335"/>
              <a:gd name="connsiteX1" fmla="*/ 12192000 w 12192000"/>
              <a:gd name="connsiteY1" fmla="*/ 0 h 2936335"/>
              <a:gd name="connsiteX2" fmla="*/ 12192000 w 12192000"/>
              <a:gd name="connsiteY2" fmla="*/ 2936335 h 2936335"/>
              <a:gd name="connsiteX3" fmla="*/ 0 w 12192000"/>
              <a:gd name="connsiteY3" fmla="*/ 2936335 h 2936335"/>
            </a:gdLst>
            <a:ahLst/>
            <a:cxnLst/>
            <a:rect l="l" t="t" r="r" b="b"/>
            <a:pathLst>
              <a:path w="12192000" h="2936335">
                <a:moveTo>
                  <a:pt x="0" y="0"/>
                </a:moveTo>
                <a:lnTo>
                  <a:pt x="12192000" y="0"/>
                </a:lnTo>
                <a:lnTo>
                  <a:pt x="12192000" y="2936335"/>
                </a:lnTo>
                <a:lnTo>
                  <a:pt x="0" y="293633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0" y="3921665"/>
            <a:ext cx="12192000" cy="2936336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indent="0" algn="ctr" fontAlgn="auto">
              <a:lnSpc>
                <a:spcPct val="150000"/>
              </a:lnSpc>
            </a:pPr>
            <a:r>
              <a:rPr kumimoji="1" lang="zh-CN" altLang="en-US" sz="2400"/>
              <a:t>一种高效、免调</a:t>
            </a:r>
            <a:r>
              <a:rPr kumimoji="1" lang="zh-CN" altLang="en-US" sz="2400"/>
              <a:t>参的长上下文</a:t>
            </a:r>
            <a:r>
              <a:rPr kumimoji="1" lang="en-US" altLang="zh-CN" sz="2400"/>
              <a:t> KV </a:t>
            </a:r>
            <a:r>
              <a:rPr kumimoji="1" lang="zh-CN" altLang="en-US" sz="2400"/>
              <a:t>缓存压缩方法</a:t>
            </a:r>
            <a:endParaRPr kumimoji="1" lang="zh-CN" altLang="en-US" sz="2400"/>
          </a:p>
          <a:p>
            <a:pPr indent="0" algn="ctr" fontAlgn="auto">
              <a:lnSpc>
                <a:spcPct val="150000"/>
              </a:lnSpc>
            </a:pPr>
            <a:r>
              <a:rPr kumimoji="1" lang="en-US" altLang="zh-CN" sz="2400" b="1"/>
              <a:t>NIPS 2024</a:t>
            </a:r>
            <a:endParaRPr kumimoji="1" lang="en-US" altLang="zh-CN" sz="2400" b="1"/>
          </a:p>
        </p:txBody>
      </p:sp>
      <p:sp>
        <p:nvSpPr>
          <p:cNvPr id="4" name="标题 1"/>
          <p:cNvSpPr txBox="1"/>
          <p:nvPr/>
        </p:nvSpPr>
        <p:spPr>
          <a:xfrm>
            <a:off x="0" y="221783"/>
            <a:ext cx="12192000" cy="4619724"/>
          </a:xfrm>
          <a:custGeom>
            <a:avLst/>
            <a:gdLst>
              <a:gd name="connsiteX0" fmla="*/ 0 w 12192000"/>
              <a:gd name="connsiteY0" fmla="*/ 0 h 4793381"/>
              <a:gd name="connsiteX1" fmla="*/ 12192000 w 12192000"/>
              <a:gd name="connsiteY1" fmla="*/ 0 h 4793381"/>
              <a:gd name="connsiteX2" fmla="*/ 12192000 w 12192000"/>
              <a:gd name="connsiteY2" fmla="*/ 4078836 h 4793381"/>
              <a:gd name="connsiteX3" fmla="*/ 12024164 w 12192000"/>
              <a:gd name="connsiteY3" fmla="*/ 4122998 h 4793381"/>
              <a:gd name="connsiteX4" fmla="*/ 6108864 w 12192000"/>
              <a:gd name="connsiteY4" fmla="*/ 4793381 h 4793381"/>
              <a:gd name="connsiteX5" fmla="*/ 133456 w 12192000"/>
              <a:gd name="connsiteY5" fmla="*/ 4107857 h 4793381"/>
              <a:gd name="connsiteX6" fmla="*/ 0 w 12192000"/>
              <a:gd name="connsiteY6" fmla="*/ 4072213 h 4793381"/>
            </a:gdLst>
            <a:ahLst/>
            <a:cxnLst/>
            <a:rect l="l" t="t" r="r" b="b"/>
            <a:pathLst>
              <a:path w="12192000" h="4793381">
                <a:moveTo>
                  <a:pt x="0" y="0"/>
                </a:moveTo>
                <a:lnTo>
                  <a:pt x="12192000" y="0"/>
                </a:lnTo>
                <a:lnTo>
                  <a:pt x="12192000" y="4078836"/>
                </a:lnTo>
                <a:lnTo>
                  <a:pt x="12024164" y="4122998"/>
                </a:lnTo>
                <a:cubicBezTo>
                  <a:pt x="10330344" y="4546550"/>
                  <a:pt x="8296352" y="4793381"/>
                  <a:pt x="6108864" y="4793381"/>
                </a:cubicBezTo>
                <a:cubicBezTo>
                  <a:pt x="3895438" y="4793381"/>
                  <a:pt x="1839170" y="4540662"/>
                  <a:pt x="133456" y="4107857"/>
                </a:cubicBezTo>
                <a:lnTo>
                  <a:pt x="0" y="40722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0" y="5163"/>
            <a:ext cx="12192000" cy="4736169"/>
          </a:xfrm>
          <a:custGeom>
            <a:avLst/>
            <a:gdLst>
              <a:gd name="connsiteX0" fmla="*/ 0 w 12192000"/>
              <a:gd name="connsiteY0" fmla="*/ 0 h 4793381"/>
              <a:gd name="connsiteX1" fmla="*/ 12192000 w 12192000"/>
              <a:gd name="connsiteY1" fmla="*/ 0 h 4793381"/>
              <a:gd name="connsiteX2" fmla="*/ 12192000 w 12192000"/>
              <a:gd name="connsiteY2" fmla="*/ 4078836 h 4793381"/>
              <a:gd name="connsiteX3" fmla="*/ 12024164 w 12192000"/>
              <a:gd name="connsiteY3" fmla="*/ 4122998 h 4793381"/>
              <a:gd name="connsiteX4" fmla="*/ 6108864 w 12192000"/>
              <a:gd name="connsiteY4" fmla="*/ 4793381 h 4793381"/>
              <a:gd name="connsiteX5" fmla="*/ 133456 w 12192000"/>
              <a:gd name="connsiteY5" fmla="*/ 4107857 h 4793381"/>
              <a:gd name="connsiteX6" fmla="*/ 0 w 12192000"/>
              <a:gd name="connsiteY6" fmla="*/ 4072213 h 4793381"/>
            </a:gdLst>
            <a:ahLst/>
            <a:cxnLst/>
            <a:rect l="l" t="t" r="r" b="b"/>
            <a:pathLst>
              <a:path w="12192000" h="4793381">
                <a:moveTo>
                  <a:pt x="0" y="0"/>
                </a:moveTo>
                <a:lnTo>
                  <a:pt x="12192000" y="0"/>
                </a:lnTo>
                <a:lnTo>
                  <a:pt x="12192000" y="4078836"/>
                </a:lnTo>
                <a:lnTo>
                  <a:pt x="12024164" y="4122998"/>
                </a:lnTo>
                <a:cubicBezTo>
                  <a:pt x="10330344" y="4546550"/>
                  <a:pt x="8296352" y="4793381"/>
                  <a:pt x="6108864" y="4793381"/>
                </a:cubicBezTo>
                <a:cubicBezTo>
                  <a:pt x="3895438" y="4793381"/>
                  <a:pt x="1839170" y="4540662"/>
                  <a:pt x="133456" y="4107857"/>
                </a:cubicBezTo>
                <a:lnTo>
                  <a:pt x="0" y="407221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530600" y="1900738"/>
            <a:ext cx="1682501" cy="128656"/>
          </a:xfrm>
          <a:custGeom>
            <a:avLst/>
            <a:gdLst>
              <a:gd name="connsiteX0" fmla="*/ 1618173 w 1682501"/>
              <a:gd name="connsiteY0" fmla="*/ 32784 h 128656"/>
              <a:gd name="connsiteX1" fmla="*/ 1586629 w 1682501"/>
              <a:gd name="connsiteY1" fmla="*/ 64328 h 128656"/>
              <a:gd name="connsiteX2" fmla="*/ 1618173 w 1682501"/>
              <a:gd name="connsiteY2" fmla="*/ 95872 h 128656"/>
              <a:gd name="connsiteX3" fmla="*/ 1649717 w 1682501"/>
              <a:gd name="connsiteY3" fmla="*/ 64328 h 128656"/>
              <a:gd name="connsiteX4" fmla="*/ 1618173 w 1682501"/>
              <a:gd name="connsiteY4" fmla="*/ 32784 h 128656"/>
              <a:gd name="connsiteX5" fmla="*/ 1618173 w 1682501"/>
              <a:gd name="connsiteY5" fmla="*/ 0 h 128656"/>
              <a:gd name="connsiteX6" fmla="*/ 1682501 w 1682501"/>
              <a:gd name="connsiteY6" fmla="*/ 64328 h 128656"/>
              <a:gd name="connsiteX7" fmla="*/ 1618173 w 1682501"/>
              <a:gd name="connsiteY7" fmla="*/ 128656 h 128656"/>
              <a:gd name="connsiteX8" fmla="*/ 1572687 w 1682501"/>
              <a:gd name="connsiteY8" fmla="*/ 109815 h 128656"/>
              <a:gd name="connsiteX9" fmla="*/ 1563314 w 1682501"/>
              <a:gd name="connsiteY9" fmla="*/ 87188 h 128656"/>
              <a:gd name="connsiteX10" fmla="*/ 0 w 1682501"/>
              <a:gd name="connsiteY10" fmla="*/ 87188 h 128656"/>
              <a:gd name="connsiteX11" fmla="*/ 0 w 1682501"/>
              <a:gd name="connsiteY11" fmla="*/ 41469 h 128656"/>
              <a:gd name="connsiteX12" fmla="*/ 1563314 w 1682501"/>
              <a:gd name="connsiteY12" fmla="*/ 41469 h 128656"/>
              <a:gd name="connsiteX13" fmla="*/ 1572687 w 1682501"/>
              <a:gd name="connsiteY13" fmla="*/ 18842 h 128656"/>
              <a:gd name="connsiteX14" fmla="*/ 1618173 w 1682501"/>
              <a:gd name="connsiteY14" fmla="*/ 0 h 128656"/>
            </a:gdLst>
            <a:ahLst/>
            <a:cxnLst/>
            <a:rect l="l" t="t" r="r" b="b"/>
            <a:pathLst>
              <a:path w="1682501" h="128656">
                <a:moveTo>
                  <a:pt x="1618173" y="32784"/>
                </a:moveTo>
                <a:cubicBezTo>
                  <a:pt x="1600752" y="32784"/>
                  <a:pt x="1586629" y="46907"/>
                  <a:pt x="1586629" y="64328"/>
                </a:cubicBezTo>
                <a:cubicBezTo>
                  <a:pt x="1586629" y="81749"/>
                  <a:pt x="1600752" y="95872"/>
                  <a:pt x="1618173" y="95872"/>
                </a:cubicBezTo>
                <a:cubicBezTo>
                  <a:pt x="1635594" y="95872"/>
                  <a:pt x="1649717" y="81749"/>
                  <a:pt x="1649717" y="64328"/>
                </a:cubicBezTo>
                <a:cubicBezTo>
                  <a:pt x="1649717" y="46907"/>
                  <a:pt x="1635594" y="32784"/>
                  <a:pt x="1618173" y="32784"/>
                </a:cubicBezTo>
                <a:close/>
                <a:moveTo>
                  <a:pt x="1618173" y="0"/>
                </a:moveTo>
                <a:cubicBezTo>
                  <a:pt x="1653700" y="0"/>
                  <a:pt x="1682501" y="28801"/>
                  <a:pt x="1682501" y="64328"/>
                </a:cubicBezTo>
                <a:cubicBezTo>
                  <a:pt x="1682501" y="99855"/>
                  <a:pt x="1653700" y="128656"/>
                  <a:pt x="1618173" y="128656"/>
                </a:cubicBezTo>
                <a:cubicBezTo>
                  <a:pt x="1600410" y="128656"/>
                  <a:pt x="1584328" y="121456"/>
                  <a:pt x="1572687" y="109815"/>
                </a:cubicBezTo>
                <a:lnTo>
                  <a:pt x="1563314" y="87188"/>
                </a:lnTo>
                <a:lnTo>
                  <a:pt x="0" y="87188"/>
                </a:lnTo>
                <a:lnTo>
                  <a:pt x="0" y="41469"/>
                </a:lnTo>
                <a:lnTo>
                  <a:pt x="1563314" y="41469"/>
                </a:lnTo>
                <a:lnTo>
                  <a:pt x="1572687" y="18842"/>
                </a:lnTo>
                <a:cubicBezTo>
                  <a:pt x="1584328" y="7200"/>
                  <a:pt x="1600410" y="0"/>
                  <a:pt x="1618173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flipH="1">
            <a:off x="7978900" y="1900738"/>
            <a:ext cx="1682501" cy="128656"/>
          </a:xfrm>
          <a:custGeom>
            <a:avLst/>
            <a:gdLst>
              <a:gd name="connsiteX0" fmla="*/ 1618173 w 1682501"/>
              <a:gd name="connsiteY0" fmla="*/ 32784 h 128656"/>
              <a:gd name="connsiteX1" fmla="*/ 1649717 w 1682501"/>
              <a:gd name="connsiteY1" fmla="*/ 64328 h 128656"/>
              <a:gd name="connsiteX2" fmla="*/ 1618173 w 1682501"/>
              <a:gd name="connsiteY2" fmla="*/ 95872 h 128656"/>
              <a:gd name="connsiteX3" fmla="*/ 1586629 w 1682501"/>
              <a:gd name="connsiteY3" fmla="*/ 64328 h 128656"/>
              <a:gd name="connsiteX4" fmla="*/ 1618173 w 1682501"/>
              <a:gd name="connsiteY4" fmla="*/ 32784 h 128656"/>
              <a:gd name="connsiteX5" fmla="*/ 1618173 w 1682501"/>
              <a:gd name="connsiteY5" fmla="*/ 0 h 128656"/>
              <a:gd name="connsiteX6" fmla="*/ 1572687 w 1682501"/>
              <a:gd name="connsiteY6" fmla="*/ 18842 h 128656"/>
              <a:gd name="connsiteX7" fmla="*/ 1563314 w 1682501"/>
              <a:gd name="connsiteY7" fmla="*/ 41469 h 128656"/>
              <a:gd name="connsiteX8" fmla="*/ 0 w 1682501"/>
              <a:gd name="connsiteY8" fmla="*/ 41469 h 128656"/>
              <a:gd name="connsiteX9" fmla="*/ 0 w 1682501"/>
              <a:gd name="connsiteY9" fmla="*/ 87188 h 128656"/>
              <a:gd name="connsiteX10" fmla="*/ 1563314 w 1682501"/>
              <a:gd name="connsiteY10" fmla="*/ 87188 h 128656"/>
              <a:gd name="connsiteX11" fmla="*/ 1572687 w 1682501"/>
              <a:gd name="connsiteY11" fmla="*/ 109815 h 128656"/>
              <a:gd name="connsiteX12" fmla="*/ 1618173 w 1682501"/>
              <a:gd name="connsiteY12" fmla="*/ 128656 h 128656"/>
              <a:gd name="connsiteX13" fmla="*/ 1682501 w 1682501"/>
              <a:gd name="connsiteY13" fmla="*/ 64328 h 128656"/>
              <a:gd name="connsiteX14" fmla="*/ 1618173 w 1682501"/>
              <a:gd name="connsiteY14" fmla="*/ 0 h 128656"/>
            </a:gdLst>
            <a:ahLst/>
            <a:cxnLst/>
            <a:rect l="l" t="t" r="r" b="b"/>
            <a:pathLst>
              <a:path w="1682501" h="128656">
                <a:moveTo>
                  <a:pt x="1618173" y="32784"/>
                </a:moveTo>
                <a:cubicBezTo>
                  <a:pt x="1635594" y="32784"/>
                  <a:pt x="1649717" y="46907"/>
                  <a:pt x="1649717" y="64328"/>
                </a:cubicBezTo>
                <a:cubicBezTo>
                  <a:pt x="1649717" y="81749"/>
                  <a:pt x="1635594" y="95872"/>
                  <a:pt x="1618173" y="95872"/>
                </a:cubicBezTo>
                <a:cubicBezTo>
                  <a:pt x="1600752" y="95872"/>
                  <a:pt x="1586629" y="81749"/>
                  <a:pt x="1586629" y="64328"/>
                </a:cubicBezTo>
                <a:cubicBezTo>
                  <a:pt x="1586629" y="46907"/>
                  <a:pt x="1600752" y="32784"/>
                  <a:pt x="1618173" y="32784"/>
                </a:cubicBezTo>
                <a:close/>
                <a:moveTo>
                  <a:pt x="1618173" y="0"/>
                </a:moveTo>
                <a:cubicBezTo>
                  <a:pt x="1600410" y="0"/>
                  <a:pt x="1584328" y="7200"/>
                  <a:pt x="1572687" y="18842"/>
                </a:cubicBezTo>
                <a:lnTo>
                  <a:pt x="1563314" y="41469"/>
                </a:lnTo>
                <a:lnTo>
                  <a:pt x="0" y="41469"/>
                </a:lnTo>
                <a:lnTo>
                  <a:pt x="0" y="87188"/>
                </a:lnTo>
                <a:lnTo>
                  <a:pt x="1563314" y="87188"/>
                </a:lnTo>
                <a:lnTo>
                  <a:pt x="1572687" y="109815"/>
                </a:lnTo>
                <a:cubicBezTo>
                  <a:pt x="1584328" y="121456"/>
                  <a:pt x="1600410" y="128656"/>
                  <a:pt x="1618173" y="128656"/>
                </a:cubicBezTo>
                <a:cubicBezTo>
                  <a:pt x="1653700" y="128656"/>
                  <a:pt x="1682501" y="99855"/>
                  <a:pt x="1682501" y="64328"/>
                </a:cubicBezTo>
                <a:cubicBezTo>
                  <a:pt x="1682501" y="28801"/>
                  <a:pt x="1653700" y="0"/>
                  <a:pt x="1618173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60400" y="6096000"/>
            <a:ext cx="1059341" cy="207434"/>
          </a:xfrm>
          <a:custGeom>
            <a:avLst/>
            <a:gdLst>
              <a:gd name="connsiteX0" fmla="*/ 833228 w 1059341"/>
              <a:gd name="connsiteY0" fmla="*/ 0 h 207434"/>
              <a:gd name="connsiteX1" fmla="*/ 951255 w 1059341"/>
              <a:gd name="connsiteY1" fmla="*/ 0 h 207434"/>
              <a:gd name="connsiteX2" fmla="*/ 1059341 w 1059341"/>
              <a:gd name="connsiteY2" fmla="*/ 103717 h 207434"/>
              <a:gd name="connsiteX3" fmla="*/ 951255 w 1059341"/>
              <a:gd name="connsiteY3" fmla="*/ 207434 h 207434"/>
              <a:gd name="connsiteX4" fmla="*/ 833228 w 1059341"/>
              <a:gd name="connsiteY4" fmla="*/ 207434 h 207434"/>
              <a:gd name="connsiteX5" fmla="*/ 941314 w 1059341"/>
              <a:gd name="connsiteY5" fmla="*/ 103717 h 207434"/>
              <a:gd name="connsiteX6" fmla="*/ 416614 w 1059341"/>
              <a:gd name="connsiteY6" fmla="*/ 0 h 207434"/>
              <a:gd name="connsiteX7" fmla="*/ 534641 w 1059341"/>
              <a:gd name="connsiteY7" fmla="*/ 0 h 207434"/>
              <a:gd name="connsiteX8" fmla="*/ 642727 w 1059341"/>
              <a:gd name="connsiteY8" fmla="*/ 103717 h 207434"/>
              <a:gd name="connsiteX9" fmla="*/ 534641 w 1059341"/>
              <a:gd name="connsiteY9" fmla="*/ 207434 h 207434"/>
              <a:gd name="connsiteX10" fmla="*/ 416614 w 1059341"/>
              <a:gd name="connsiteY10" fmla="*/ 207434 h 207434"/>
              <a:gd name="connsiteX11" fmla="*/ 524700 w 1059341"/>
              <a:gd name="connsiteY11" fmla="*/ 103717 h 207434"/>
              <a:gd name="connsiteX12" fmla="*/ 0 w 1059341"/>
              <a:gd name="connsiteY12" fmla="*/ 0 h 207434"/>
              <a:gd name="connsiteX13" fmla="*/ 118027 w 1059341"/>
              <a:gd name="connsiteY13" fmla="*/ 0 h 207434"/>
              <a:gd name="connsiteX14" fmla="*/ 226113 w 1059341"/>
              <a:gd name="connsiteY14" fmla="*/ 103717 h 207434"/>
              <a:gd name="connsiteX15" fmla="*/ 118027 w 1059341"/>
              <a:gd name="connsiteY15" fmla="*/ 207434 h 207434"/>
              <a:gd name="connsiteX16" fmla="*/ 0 w 1059341"/>
              <a:gd name="connsiteY16" fmla="*/ 207434 h 207434"/>
              <a:gd name="connsiteX17" fmla="*/ 108086 w 1059341"/>
              <a:gd name="connsiteY17" fmla="*/ 103717 h 207434"/>
            </a:gdLst>
            <a:ahLst/>
            <a:cxnLst/>
            <a:rect l="l" t="t" r="r" b="b"/>
            <a:pathLst>
              <a:path w="1059341" h="207434">
                <a:moveTo>
                  <a:pt x="833228" y="0"/>
                </a:moveTo>
                <a:lnTo>
                  <a:pt x="951255" y="0"/>
                </a:lnTo>
                <a:lnTo>
                  <a:pt x="1059341" y="103717"/>
                </a:lnTo>
                <a:lnTo>
                  <a:pt x="951255" y="207434"/>
                </a:lnTo>
                <a:lnTo>
                  <a:pt x="833228" y="207434"/>
                </a:lnTo>
                <a:lnTo>
                  <a:pt x="941314" y="103717"/>
                </a:lnTo>
                <a:close/>
                <a:moveTo>
                  <a:pt x="416614" y="0"/>
                </a:moveTo>
                <a:lnTo>
                  <a:pt x="534641" y="0"/>
                </a:lnTo>
                <a:lnTo>
                  <a:pt x="642727" y="103717"/>
                </a:lnTo>
                <a:lnTo>
                  <a:pt x="534641" y="207434"/>
                </a:lnTo>
                <a:lnTo>
                  <a:pt x="416614" y="207434"/>
                </a:lnTo>
                <a:lnTo>
                  <a:pt x="524700" y="103717"/>
                </a:lnTo>
                <a:close/>
                <a:moveTo>
                  <a:pt x="0" y="0"/>
                </a:moveTo>
                <a:lnTo>
                  <a:pt x="118027" y="0"/>
                </a:lnTo>
                <a:lnTo>
                  <a:pt x="226113" y="103717"/>
                </a:lnTo>
                <a:lnTo>
                  <a:pt x="118027" y="207434"/>
                </a:lnTo>
                <a:lnTo>
                  <a:pt x="0" y="207434"/>
                </a:lnTo>
                <a:lnTo>
                  <a:pt x="108086" y="103717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flipH="1">
            <a:off x="10459559" y="6096000"/>
            <a:ext cx="1059341" cy="207434"/>
          </a:xfrm>
          <a:custGeom>
            <a:avLst/>
            <a:gdLst>
              <a:gd name="connsiteX0" fmla="*/ 118027 w 1059341"/>
              <a:gd name="connsiteY0" fmla="*/ 0 h 207434"/>
              <a:gd name="connsiteX1" fmla="*/ 0 w 1059341"/>
              <a:gd name="connsiteY1" fmla="*/ 0 h 207434"/>
              <a:gd name="connsiteX2" fmla="*/ 108086 w 1059341"/>
              <a:gd name="connsiteY2" fmla="*/ 103717 h 207434"/>
              <a:gd name="connsiteX3" fmla="*/ 0 w 1059341"/>
              <a:gd name="connsiteY3" fmla="*/ 207434 h 207434"/>
              <a:gd name="connsiteX4" fmla="*/ 118027 w 1059341"/>
              <a:gd name="connsiteY4" fmla="*/ 207434 h 207434"/>
              <a:gd name="connsiteX5" fmla="*/ 226113 w 1059341"/>
              <a:gd name="connsiteY5" fmla="*/ 103717 h 207434"/>
              <a:gd name="connsiteX6" fmla="*/ 534641 w 1059341"/>
              <a:gd name="connsiteY6" fmla="*/ 0 h 207434"/>
              <a:gd name="connsiteX7" fmla="*/ 416614 w 1059341"/>
              <a:gd name="connsiteY7" fmla="*/ 0 h 207434"/>
              <a:gd name="connsiteX8" fmla="*/ 524700 w 1059341"/>
              <a:gd name="connsiteY8" fmla="*/ 103717 h 207434"/>
              <a:gd name="connsiteX9" fmla="*/ 416614 w 1059341"/>
              <a:gd name="connsiteY9" fmla="*/ 207434 h 207434"/>
              <a:gd name="connsiteX10" fmla="*/ 534641 w 1059341"/>
              <a:gd name="connsiteY10" fmla="*/ 207434 h 207434"/>
              <a:gd name="connsiteX11" fmla="*/ 642727 w 1059341"/>
              <a:gd name="connsiteY11" fmla="*/ 103717 h 207434"/>
              <a:gd name="connsiteX12" fmla="*/ 951255 w 1059341"/>
              <a:gd name="connsiteY12" fmla="*/ 0 h 207434"/>
              <a:gd name="connsiteX13" fmla="*/ 833228 w 1059341"/>
              <a:gd name="connsiteY13" fmla="*/ 0 h 207434"/>
              <a:gd name="connsiteX14" fmla="*/ 941314 w 1059341"/>
              <a:gd name="connsiteY14" fmla="*/ 103717 h 207434"/>
              <a:gd name="connsiteX15" fmla="*/ 833228 w 1059341"/>
              <a:gd name="connsiteY15" fmla="*/ 207434 h 207434"/>
              <a:gd name="connsiteX16" fmla="*/ 951255 w 1059341"/>
              <a:gd name="connsiteY16" fmla="*/ 207434 h 207434"/>
              <a:gd name="connsiteX17" fmla="*/ 1059341 w 1059341"/>
              <a:gd name="connsiteY17" fmla="*/ 103717 h 207434"/>
            </a:gdLst>
            <a:ahLst/>
            <a:cxnLst/>
            <a:rect l="l" t="t" r="r" b="b"/>
            <a:pathLst>
              <a:path w="1059341" h="207434">
                <a:moveTo>
                  <a:pt x="118027" y="0"/>
                </a:moveTo>
                <a:lnTo>
                  <a:pt x="0" y="0"/>
                </a:lnTo>
                <a:lnTo>
                  <a:pt x="108086" y="103717"/>
                </a:lnTo>
                <a:lnTo>
                  <a:pt x="0" y="207434"/>
                </a:lnTo>
                <a:lnTo>
                  <a:pt x="118027" y="207434"/>
                </a:lnTo>
                <a:lnTo>
                  <a:pt x="226113" y="103717"/>
                </a:lnTo>
                <a:close/>
                <a:moveTo>
                  <a:pt x="534641" y="0"/>
                </a:moveTo>
                <a:lnTo>
                  <a:pt x="416614" y="0"/>
                </a:lnTo>
                <a:lnTo>
                  <a:pt x="524700" y="103717"/>
                </a:lnTo>
                <a:lnTo>
                  <a:pt x="416614" y="207434"/>
                </a:lnTo>
                <a:lnTo>
                  <a:pt x="534641" y="207434"/>
                </a:lnTo>
                <a:lnTo>
                  <a:pt x="642727" y="103717"/>
                </a:lnTo>
                <a:close/>
                <a:moveTo>
                  <a:pt x="951255" y="0"/>
                </a:moveTo>
                <a:lnTo>
                  <a:pt x="833228" y="0"/>
                </a:lnTo>
                <a:lnTo>
                  <a:pt x="941314" y="103717"/>
                </a:lnTo>
                <a:lnTo>
                  <a:pt x="833228" y="207434"/>
                </a:lnTo>
                <a:lnTo>
                  <a:pt x="951255" y="207434"/>
                </a:lnTo>
                <a:lnTo>
                  <a:pt x="1059341" y="103717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2328323" y="2158773"/>
            <a:ext cx="7535354" cy="23880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3600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Arial Bold" panose="020B0604020202090204" charset="0"/>
                <a:ea typeface="Source Han Sans CN Bold"/>
                <a:cs typeface="Arial Bold" panose="020B0604020202090204" charset="0"/>
              </a:rPr>
              <a:t>SnapKV</a:t>
            </a:r>
            <a:r>
              <a:rPr kumimoji="1" lang="en-US" altLang="zh-CN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Arial Regular" panose="020B0604020202090204" charset="0"/>
                <a:ea typeface="Source Han Sans CN Bold"/>
                <a:cs typeface="Arial Regular" panose="020B0604020202090204" charset="0"/>
              </a:rPr>
              <a:t>: </a:t>
            </a:r>
            <a:r>
              <a:rPr kumimoji="1" lang="zh-CN" altLang="en-US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Arial Regular" panose="020B0604020202090204" charset="0"/>
                <a:ea typeface="Source Han Sans CN Bold"/>
                <a:cs typeface="Arial Regular" panose="020B0604020202090204" charset="0"/>
              </a:rPr>
              <a:t>让</a:t>
            </a:r>
            <a:r>
              <a:rPr kumimoji="1" lang="en-US" altLang="zh-CN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Arial Regular" panose="020B0604020202090204" charset="0"/>
                <a:ea typeface="Source Han Sans CN Bold"/>
                <a:cs typeface="Arial Regular" panose="020B0604020202090204" charset="0"/>
              </a:rPr>
              <a:t>LLMs</a:t>
            </a:r>
            <a:r>
              <a:rPr kumimoji="1" lang="zh-CN" altLang="en-US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Arial Regular" panose="020B0604020202090204" charset="0"/>
                <a:ea typeface="Source Han Sans CN Bold"/>
                <a:cs typeface="Arial Regular" panose="020B0604020202090204" charset="0"/>
              </a:rPr>
              <a:t>在生成前</a:t>
            </a:r>
            <a:endParaRPr kumimoji="1" lang="zh-CN" altLang="en-US" sz="3600">
              <a:ln w="12700">
                <a:noFill/>
              </a:ln>
              <a:solidFill>
                <a:srgbClr val="FFFFFF">
                  <a:alpha val="100000"/>
                </a:srgbClr>
              </a:solidFill>
              <a:latin typeface="Arial Regular" panose="020B0604020202090204" charset="0"/>
              <a:ea typeface="Source Han Sans CN Bold"/>
              <a:cs typeface="Arial Regular" panose="020B0604020202090204" charset="0"/>
            </a:endParaRPr>
          </a:p>
          <a:p>
            <a:pPr algn="ctr">
              <a:lnSpc>
                <a:spcPct val="130000"/>
              </a:lnSpc>
            </a:pPr>
            <a:r>
              <a:rPr kumimoji="1" lang="zh-CN" altLang="en-US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Arial Regular" panose="020B0604020202090204" charset="0"/>
                <a:ea typeface="Source Han Sans CN Bold"/>
                <a:cs typeface="Arial Regular" panose="020B0604020202090204" charset="0"/>
              </a:rPr>
              <a:t>就知道需要什么</a:t>
            </a:r>
            <a:endParaRPr kumimoji="1" lang="zh-CN" altLang="en-US" sz="3600">
              <a:ln w="12700">
                <a:noFill/>
              </a:ln>
              <a:solidFill>
                <a:srgbClr val="FFFFFF">
                  <a:alpha val="100000"/>
                </a:srgbClr>
              </a:solidFill>
              <a:latin typeface="Arial Regular" panose="020B0604020202090204" charset="0"/>
              <a:ea typeface="Source Han Sans CN Bold"/>
              <a:cs typeface="Arial Regular" panose="020B060402020209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背景：长下文带来的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挑战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27760" y="1211580"/>
            <a:ext cx="9190355" cy="4093845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  <a:buNone/>
            </a:pPr>
            <a:r>
              <a:rPr lang="zh-CN" altLang="en-US" sz="2000" b="1">
                <a:latin typeface="等线" charset="0"/>
                <a:ea typeface="等线" charset="0"/>
                <a:cs typeface="等线" charset="0"/>
              </a:rPr>
              <a:t>现状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: </a:t>
            </a:r>
            <a:endParaRPr lang="en-US" altLang="zh-CN" sz="2000">
              <a:latin typeface="等线" charset="0"/>
              <a:ea typeface="等线" charset="0"/>
              <a:cs typeface="等线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大语言模型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 (LLM)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如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 GPT-4, Command-R, Claude-3, Gemini-Pro-1.5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等，正处理越来越长的上下文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 (128K, 200K, 1M+ tokens)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。</a:t>
            </a:r>
            <a:endParaRPr lang="zh-CN" altLang="en-US" sz="2000">
              <a:latin typeface="等线" charset="0"/>
              <a:ea typeface="等线" charset="0"/>
              <a:cs typeface="等线" charset="0"/>
            </a:endParaRPr>
          </a:p>
          <a:p>
            <a:pPr indent="0" fontAlgn="auto">
              <a:lnSpc>
                <a:spcPct val="150000"/>
              </a:lnSpc>
              <a:buNone/>
            </a:pPr>
            <a:endParaRPr lang="zh-CN" altLang="en-US" sz="2000">
              <a:latin typeface="等线" charset="0"/>
              <a:ea typeface="等线" charset="0"/>
              <a:cs typeface="等线" charset="0"/>
            </a:endParaRPr>
          </a:p>
          <a:p>
            <a:pPr indent="0" fontAlgn="auto">
              <a:lnSpc>
                <a:spcPct val="150000"/>
              </a:lnSpc>
              <a:buNone/>
            </a:pPr>
            <a:endParaRPr lang="zh-CN" altLang="en-US" sz="2000">
              <a:latin typeface="等线" charset="0"/>
              <a:ea typeface="等线" charset="0"/>
              <a:cs typeface="等线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000" b="1">
                <a:latin typeface="等线" charset="0"/>
                <a:ea typeface="等线" charset="0"/>
                <a:cs typeface="等线" charset="0"/>
              </a:rPr>
              <a:t>核心问题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: </a:t>
            </a:r>
            <a:endParaRPr lang="en-US" altLang="zh-CN" sz="2000">
              <a:latin typeface="等线" charset="0"/>
              <a:ea typeface="等线" charset="0"/>
              <a:cs typeface="等线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KV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缓存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 (Key-Value Cache)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是提升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 LLM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处理长序列性能的关键，但在注意力</a:t>
            </a:r>
            <a:endParaRPr lang="zh-CN" altLang="en-US" sz="2000">
              <a:latin typeface="等线" charset="0"/>
              <a:ea typeface="等线" charset="0"/>
              <a:cs typeface="等线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机制中，随着输入序列增长，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KV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缓存也随之线性增长。</a:t>
            </a:r>
            <a:endParaRPr lang="zh-CN" altLang="en-US" sz="2000">
              <a:latin typeface="等线" charset="0"/>
              <a:ea typeface="等线" charset="0"/>
              <a:cs typeface="等线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背景：长下文带来的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挑战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27760" y="1211580"/>
            <a:ext cx="9190355" cy="4093845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  <a:buNone/>
            </a:pPr>
            <a:r>
              <a:rPr lang="zh-CN" altLang="en-US" sz="2000" b="1">
                <a:latin typeface="等线" charset="0"/>
                <a:ea typeface="等线" charset="0"/>
                <a:cs typeface="等线" charset="0"/>
              </a:rPr>
              <a:t>带来的挑战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:</a:t>
            </a:r>
            <a:endParaRPr lang="en-US" altLang="zh-CN" sz="2000">
              <a:latin typeface="等线" charset="0"/>
              <a:ea typeface="等线" charset="0"/>
              <a:cs typeface="等线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000" b="1">
                <a:solidFill>
                  <a:srgbClr val="C00000"/>
                </a:solidFill>
                <a:latin typeface="等线" charset="0"/>
                <a:ea typeface="等线" charset="0"/>
                <a:cs typeface="等线" charset="0"/>
              </a:rPr>
              <a:t>内存瓶颈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: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巨大的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 KV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缓存需要大量显存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/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内存，限制了模型处理更长文本的能力和部署的可扩展性。</a:t>
            </a:r>
            <a:endParaRPr lang="zh-CN" altLang="en-US" sz="2000">
              <a:latin typeface="等线" charset="0"/>
              <a:ea typeface="等线" charset="0"/>
              <a:cs typeface="等线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000" b="1">
                <a:solidFill>
                  <a:srgbClr val="C00000"/>
                </a:solidFill>
                <a:latin typeface="等线" charset="0"/>
                <a:ea typeface="等线" charset="0"/>
                <a:cs typeface="等线" charset="0"/>
              </a:rPr>
              <a:t>时间效率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: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在生成（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Decoding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）阶段，每个新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 Token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都需要与过去所有的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 KV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进行注意力计算，导致生成速度随输入长度增加而变慢。</a:t>
            </a:r>
            <a:endParaRPr lang="zh-CN" altLang="en-US" sz="2000">
              <a:latin typeface="等线" charset="0"/>
              <a:ea typeface="等线" charset="0"/>
              <a:cs typeface="等线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000">
                <a:solidFill>
                  <a:srgbClr val="C00000"/>
                </a:solidFill>
                <a:latin typeface="等线" charset="0"/>
                <a:ea typeface="等线" charset="0"/>
                <a:cs typeface="等线" charset="0"/>
              </a:rPr>
              <a:t>！</a:t>
            </a:r>
            <a:r>
              <a:rPr lang="zh-CN" altLang="en-US" sz="2000" b="1">
                <a:solidFill>
                  <a:srgbClr val="C00000"/>
                </a:solidFill>
                <a:latin typeface="等线" charset="0"/>
                <a:ea typeface="等线" charset="0"/>
                <a:cs typeface="等线" charset="0"/>
              </a:rPr>
              <a:t>实际应用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: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在聊天机器人、智能体等应用中，</a:t>
            </a:r>
            <a:r>
              <a:rPr lang="zh-CN" altLang="en-US" sz="2000" b="1">
                <a:solidFill>
                  <a:srgbClr val="C00000"/>
                </a:solidFill>
                <a:latin typeface="等线" charset="0"/>
                <a:ea typeface="等线" charset="0"/>
                <a:cs typeface="等线" charset="0"/>
              </a:rPr>
              <a:t>用户输入的提示</a:t>
            </a:r>
            <a:r>
              <a:rPr lang="en-US" altLang="zh-CN" sz="2000" b="1">
                <a:solidFill>
                  <a:srgbClr val="C00000"/>
                </a:solidFill>
                <a:latin typeface="等线" charset="0"/>
                <a:ea typeface="等线" charset="0"/>
                <a:cs typeface="等线" charset="0"/>
              </a:rPr>
              <a:t> (Prompt)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，如多轮对话、长文档、代码库等，通常远大于模型生成的响应，这使得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 Prompt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处理阶段的</a:t>
            </a:r>
            <a:r>
              <a:rPr lang="en-US" altLang="zh-CN" sz="2000">
                <a:latin typeface="等线" charset="0"/>
                <a:ea typeface="等线" charset="0"/>
                <a:cs typeface="等线" charset="0"/>
              </a:rPr>
              <a:t> KV </a:t>
            </a:r>
            <a:r>
              <a:rPr lang="zh-CN" altLang="en-US" sz="2000">
                <a:latin typeface="等线" charset="0"/>
                <a:ea typeface="等线" charset="0"/>
                <a:cs typeface="等线" charset="0"/>
              </a:rPr>
              <a:t>缓存成为主要的内存和延迟瓶颈。</a:t>
            </a:r>
            <a:endParaRPr lang="en-US" altLang="zh-CN" sz="2000">
              <a:latin typeface="等线" charset="0"/>
              <a:ea typeface="等线" charset="0"/>
              <a:cs typeface="等线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现有方法的局限性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703705" y="1484630"/>
            <a:ext cx="788416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ea typeface="+mn-lt"/>
                <a:cs typeface="+mn-lt"/>
                <a:sym typeface="+mn-ea"/>
              </a:rPr>
              <a:t>现有方法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主要通过在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生成阶段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丢弃部分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 KV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缓存来压缩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，例如：</a:t>
            </a:r>
            <a:endParaRPr kumimoji="1" lang="zh-CN" altLang="en-US" sz="2000"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en-US" altLang="zh-CN" sz="2000">
                <a:ea typeface="+mn-lt"/>
                <a:cs typeface="+mn-lt"/>
                <a:sym typeface="+mn-ea"/>
              </a:rPr>
              <a:t>StreamLLM: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保留初始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Tokens (Attention Sinks)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和最近的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Tokens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。</a:t>
            </a:r>
            <a:endParaRPr kumimoji="1" lang="en-US" altLang="zh-CN" sz="2000"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en-US" altLang="zh-CN" sz="2000">
                <a:ea typeface="+mn-lt"/>
                <a:cs typeface="+mn-lt"/>
                <a:sym typeface="+mn-ea"/>
              </a:rPr>
              <a:t>H2O (Heavy-Hitter Oracle):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根据累计注意力分数动态丢弃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KV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。</a:t>
            </a:r>
            <a:endParaRPr kumimoji="1" lang="en-US" altLang="zh-CN" sz="2000"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en-US" altLang="zh-CN" sz="2000">
                <a:ea typeface="+mn-lt"/>
                <a:cs typeface="+mn-lt"/>
                <a:sym typeface="+mn-ea"/>
              </a:rPr>
              <a:t>FastGen: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结合多种策略动态驱逐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KV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缓存。</a:t>
            </a:r>
            <a:endParaRPr kumimoji="1" lang="zh-CN" altLang="en-US" sz="2000"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en-US" altLang="zh-CN" sz="2000">
                <a:ea typeface="+mn-lt"/>
                <a:cs typeface="+mn-lt"/>
                <a:sym typeface="+mn-ea"/>
              </a:rPr>
              <a:t>ScissorHands: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保留与前序窗口注意力模式一致的关键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Tokens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。</a:t>
            </a:r>
            <a:endParaRPr kumimoji="1" lang="zh-CN" altLang="en-US" sz="2000"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现有方法的局限性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703705" y="1484630"/>
            <a:ext cx="9048115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ea typeface="+mn-lt"/>
                <a:cs typeface="+mn-lt"/>
                <a:sym typeface="+mn-ea"/>
              </a:rPr>
              <a:t>主要局限性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:</a:t>
            </a:r>
            <a:endParaRPr kumimoji="1" lang="en-US" altLang="zh-CN" sz="2000"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Wingdings" panose="05000000000000000000" charset="0"/>
              <a:buChar char=""/>
            </a:pP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忽视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缓存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大多关注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 b="1">
                <a:ea typeface="+mn-lt"/>
                <a:cs typeface="+mn-lt"/>
                <a:sym typeface="+mn-ea"/>
              </a:rPr>
              <a:t>生成过程中新增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的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KV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缓存，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而忽略了对庞大的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初始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 Prompt KV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缓存的压缩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，后者往往是内存占用的主要部分。</a:t>
            </a:r>
            <a:endParaRPr kumimoji="1" lang="zh-CN" altLang="en-US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Font typeface="Wingdings" panose="05000000000000000000" charset="0"/>
              <a:buNone/>
            </a:pPr>
            <a:endParaRPr kumimoji="1" lang="zh-CN" altLang="en-US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Font typeface="Wingdings" panose="05000000000000000000" charset="0"/>
              <a:buNone/>
            </a:pPr>
            <a:endParaRPr kumimoji="1" lang="zh-CN" altLang="en-US" sz="2000"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SnapKV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的核心观察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99515" y="1556385"/>
            <a:ext cx="530352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ea typeface="+mn-lt"/>
                <a:cs typeface="+mn-lt"/>
                <a:sym typeface="+mn-ea"/>
              </a:rPr>
              <a:t>关键发现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(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通过实验验证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): </a:t>
            </a:r>
            <a:endParaRPr kumimoji="1" lang="en-US" altLang="zh-CN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ea typeface="+mn-lt"/>
                <a:cs typeface="+mn-lt"/>
                <a:sym typeface="+mn-ea"/>
              </a:rPr>
              <a:t>注意力模式的一致性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在生成过程中，模型的每个注意力头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(Attention Head)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倾向于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持续关注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中的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特定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位置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/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特征。</a:t>
            </a:r>
            <a:endParaRPr kumimoji="1" lang="zh-CN" altLang="en-US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ea typeface="+mn-lt"/>
                <a:cs typeface="+mn-lt"/>
                <a:sym typeface="+mn-ea"/>
              </a:rPr>
              <a:t>这里的线条表示模型的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layer</a:t>
            </a:r>
            <a:endParaRPr kumimoji="1" lang="en-US" altLang="zh-CN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ea typeface="+mn-lt"/>
              <a:cs typeface="+mn-lt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990" y="1484630"/>
            <a:ext cx="44323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SnapKV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的核心观察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87170" y="1268730"/>
            <a:ext cx="478409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ea typeface="+mn-lt"/>
                <a:cs typeface="+mn-lt"/>
                <a:sym typeface="+mn-ea"/>
              </a:rPr>
              <a:t>关键发现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(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通过实验验证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): </a:t>
            </a:r>
            <a:endParaRPr kumimoji="1" lang="en-US" altLang="zh-CN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ea typeface="+mn-lt"/>
                <a:cs typeface="+mn-lt"/>
                <a:sym typeface="+mn-ea"/>
              </a:rPr>
              <a:t>模式的可预测性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这种稳定的注意力模式，可以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在生成开始之前，通过观察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末尾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的一小段窗口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(“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观察窗口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”, Observation Window)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来有效识别。</a:t>
            </a:r>
            <a:endParaRPr kumimoji="1" lang="zh-CN" altLang="en-US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ea typeface="+mn-lt"/>
                <a:cs typeface="+mn-lt"/>
                <a:sym typeface="+mn-ea"/>
              </a:rPr>
              <a:t>线条表示的是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4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个生成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token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的窗口</a:t>
            </a:r>
            <a:endParaRPr kumimoji="1" lang="en-US" altLang="zh-CN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ea typeface="+mn-lt"/>
              <a:cs typeface="+mn-lt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0190" y="1028700"/>
            <a:ext cx="453390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SnapKV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的核心观察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87170" y="1268730"/>
            <a:ext cx="904811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ea typeface="+mn-lt"/>
                <a:cs typeface="+mn-lt"/>
                <a:sym typeface="+mn-ea"/>
              </a:rPr>
              <a:t>关键发现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(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通过实验验证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): </a:t>
            </a:r>
            <a:endParaRPr kumimoji="1" lang="en-US" altLang="zh-CN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ea typeface="+mn-lt"/>
                <a:cs typeface="+mn-lt"/>
                <a:sym typeface="+mn-ea"/>
              </a:rPr>
              <a:t>注意力模式的一致性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在生成过程中，模型的每个注意力头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(Attention Head)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倾向于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持续关注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中的特定位置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/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特征。</a:t>
            </a:r>
            <a:endParaRPr kumimoji="1" lang="en-US" altLang="zh-CN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ea typeface="+mn-lt"/>
                <a:cs typeface="+mn-lt"/>
                <a:sym typeface="+mn-ea"/>
              </a:rPr>
              <a:t>模式的可预测性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这种稳定的注意力模式，可以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在生成开始之前，通过观察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末尾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的一小段窗口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 (“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观察窗口</a:t>
            </a:r>
            <a:r>
              <a:rPr kumimoji="1" lang="en-US" altLang="zh-CN" sz="2000">
                <a:ea typeface="+mn-lt"/>
                <a:cs typeface="+mn-lt"/>
                <a:sym typeface="+mn-ea"/>
              </a:rPr>
              <a:t>”, Observation Window) </a:t>
            </a:r>
            <a:r>
              <a:rPr kumimoji="1" lang="zh-CN" altLang="en-US" sz="2000">
                <a:ea typeface="+mn-lt"/>
                <a:cs typeface="+mn-lt"/>
                <a:sym typeface="+mn-ea"/>
              </a:rPr>
              <a:t>来有效识别。</a:t>
            </a:r>
            <a:endParaRPr kumimoji="1" lang="zh-CN" altLang="en-US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核心洞察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: LLM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在开始生成回复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之前，就已经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“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知道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”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输入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中的哪些部分对后续生成更重要</a:t>
            </a:r>
            <a:endParaRPr kumimoji="1" lang="zh-CN" altLang="en-US" sz="2000" b="1">
              <a:solidFill>
                <a:srgbClr val="C00000"/>
              </a:solidFill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SnapKV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方法详解</a:t>
            </a:r>
            <a:endParaRPr kumimoji="1" lang="en-US" altLang="zh-CN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目标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在不微调模型的情况下，显著压缩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缓存，同时保持模型性能核心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15" y="2204720"/>
            <a:ext cx="93091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SnapKV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方法详解—如何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工作？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目标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在不微调模型的情况下，显著压缩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缓存，同时保持模型性能核心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将输入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分为两部分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：前面的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Prefix (L_prefix)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和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末尾的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Observation Window (L_obs)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投票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(Voting)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利用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Observation Window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中的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Query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，计算它们与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Prefix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中所有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Key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的注意力权重。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识别重要位置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对每个注意力头，将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Observation Window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对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Prefix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的注意力权重累加，选出权重最高的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k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个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Prefix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位置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(Indices)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。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SnapKV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方法详解—聚类与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压缩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聚类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(Clustering via Pooling):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动机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仅仅选择权重最高的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Top-k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位置可能只保留了零散信息，丢失了上下文的完整性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例如，只记住电话号码的国家代码而忘记其余数字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)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方法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在选出的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Top-k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位置周围应用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1D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池化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(Pooling,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如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Max Pooling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或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Average Pooling)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，将邻近位置也纳入考虑，形成更完整的特征簇。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SnapKV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方法详解—聚类与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压缩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压缩与存储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构建新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缓存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将经过聚类选出的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Prefix 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特征，与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完整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Observation Window 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特征拼接起来。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替换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用这个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压缩后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缓存替换掉原始庞大的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Prompt 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缓存，用于后续的生成过程。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关键优势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压缩后的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Prompt KV </a:t>
            </a: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缓存大小固定，不再随原始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长度增长而增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长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23212"/>
          <a:stretch>
            <a:fillRect/>
          </a:stretch>
        </p:blipFill>
        <p:spPr>
          <a:xfrm>
            <a:off x="1415415" y="1916430"/>
            <a:ext cx="8724265" cy="4117340"/>
          </a:xfrm>
          <a:prstGeom prst="rect">
            <a:avLst/>
          </a:prstGeom>
        </p:spPr>
      </p:pic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ea typeface="+mn-lt"/>
                <a:cs typeface="+mn-lt"/>
                <a:sym typeface="+mn-ea"/>
              </a:rPr>
              <a:t>实验结果</a:t>
            </a:r>
            <a:r>
              <a:rPr kumimoji="1" lang="en-US" altLang="zh-CN" sz="2800">
                <a:ea typeface="+mn-lt"/>
                <a:cs typeface="+mn-lt"/>
                <a:sym typeface="+mn-ea"/>
              </a:rPr>
              <a:t> - </a:t>
            </a:r>
            <a:r>
              <a:rPr kumimoji="1" lang="zh-CN" altLang="en-US" sz="2800">
                <a:ea typeface="+mn-lt"/>
                <a:cs typeface="+mn-lt"/>
                <a:sym typeface="+mn-ea"/>
              </a:rPr>
              <a:t>效率提升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11225" y="1226820"/>
            <a:ext cx="10549255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解码速度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:SnapKV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优化后的模型解码速度保持恒定，不受输入长度影响。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LWM-Text-Chat-1M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对比基线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(Baseline):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在处理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16K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输入时，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SnapKV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速度提升约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3.6x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。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ea typeface="+mn-lt"/>
                <a:cs typeface="+mn-lt"/>
                <a:sym typeface="+mn-ea"/>
              </a:rPr>
              <a:t>实验结果</a:t>
            </a:r>
            <a:r>
              <a:rPr kumimoji="1" lang="en-US" altLang="zh-CN" sz="2800">
                <a:ea typeface="+mn-lt"/>
                <a:cs typeface="+mn-lt"/>
                <a:sym typeface="+mn-ea"/>
              </a:rPr>
              <a:t> - </a:t>
            </a:r>
            <a:r>
              <a:rPr kumimoji="1" lang="zh-CN" altLang="en-US" sz="2800">
                <a:ea typeface="+mn-lt"/>
                <a:cs typeface="+mn-lt"/>
                <a:sym typeface="+mn-ea"/>
              </a:rPr>
              <a:t>效率提升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24301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>
                <a:solidFill>
                  <a:schemeClr val="tx1"/>
                </a:solidFill>
                <a:ea typeface="+mn-lt"/>
                <a:cs typeface="+mn-lt"/>
                <a:sym typeface="+mn-ea"/>
              </a:rPr>
              <a:t>内存效率</a:t>
            </a:r>
            <a:r>
              <a:rPr kumimoji="1" lang="en-US" altLang="zh-CN">
                <a:solidFill>
                  <a:schemeClr val="tx1"/>
                </a:solidFill>
                <a:ea typeface="+mn-lt"/>
                <a:cs typeface="+mn-lt"/>
                <a:sym typeface="+mn-ea"/>
              </a:rPr>
              <a:t>:SnapKV </a:t>
            </a:r>
            <a:r>
              <a:rPr kumimoji="1" lang="zh-CN" altLang="en-US">
                <a:solidFill>
                  <a:schemeClr val="tx1"/>
                </a:solidFill>
                <a:ea typeface="+mn-lt"/>
                <a:cs typeface="+mn-lt"/>
                <a:sym typeface="+mn-ea"/>
              </a:rPr>
              <a:t>显著降低内存占用，允许处理更长序列</a:t>
            </a:r>
            <a:endParaRPr kumimoji="1" lang="zh-CN" altLang="en-US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>
                <a:solidFill>
                  <a:schemeClr val="tx1"/>
                </a:solidFill>
                <a:ea typeface="+mn-lt"/>
                <a:cs typeface="+mn-lt"/>
                <a:sym typeface="+mn-ea"/>
              </a:rPr>
              <a:t>极限测试</a:t>
            </a:r>
            <a:r>
              <a:rPr kumimoji="1" lang="en-US" altLang="zh-CN">
                <a:solidFill>
                  <a:schemeClr val="tx1"/>
                </a:solidFill>
                <a:ea typeface="+mn-lt"/>
                <a:cs typeface="+mn-lt"/>
                <a:sym typeface="+mn-ea"/>
              </a:rPr>
              <a:t>: </a:t>
            </a:r>
            <a:r>
              <a:rPr kumimoji="1" lang="zh-CN" altLang="en-US">
                <a:solidFill>
                  <a:schemeClr val="tx1"/>
                </a:solidFill>
                <a:ea typeface="+mn-lt"/>
                <a:cs typeface="+mn-lt"/>
                <a:sym typeface="+mn-ea"/>
              </a:rPr>
              <a:t>在单卡</a:t>
            </a:r>
            <a:r>
              <a:rPr kumimoji="1" lang="en-US" altLang="zh-CN">
                <a:solidFill>
                  <a:schemeClr val="tx1"/>
                </a:solidFill>
                <a:ea typeface="+mn-lt"/>
                <a:cs typeface="+mn-lt"/>
                <a:sym typeface="+mn-ea"/>
              </a:rPr>
              <a:t> A100-80GB </a:t>
            </a:r>
            <a:r>
              <a:rPr kumimoji="1" lang="zh-CN" altLang="en-US">
                <a:solidFill>
                  <a:schemeClr val="tx1"/>
                </a:solidFill>
                <a:ea typeface="+mn-lt"/>
                <a:cs typeface="+mn-lt"/>
                <a:sym typeface="+mn-ea"/>
              </a:rPr>
              <a:t>上，使用</a:t>
            </a:r>
            <a:r>
              <a:rPr kumimoji="1" lang="en-US" altLang="zh-CN">
                <a:solidFill>
                  <a:schemeClr val="tx1"/>
                </a:solidFill>
                <a:ea typeface="+mn-lt"/>
                <a:cs typeface="+mn-lt"/>
                <a:sym typeface="+mn-ea"/>
              </a:rPr>
              <a:t> SnapKV </a:t>
            </a:r>
            <a:r>
              <a:rPr kumimoji="1" lang="zh-CN" altLang="en-US">
                <a:solidFill>
                  <a:schemeClr val="tx1"/>
                </a:solidFill>
                <a:ea typeface="+mn-lt"/>
                <a:cs typeface="+mn-lt"/>
                <a:sym typeface="+mn-ea"/>
              </a:rPr>
              <a:t>可处理高达</a:t>
            </a:r>
            <a:r>
              <a:rPr kumimoji="1" lang="en-US" altLang="zh-CN">
                <a:solidFill>
                  <a:schemeClr val="tx1"/>
                </a:solidFill>
                <a:ea typeface="+mn-lt"/>
                <a:cs typeface="+mn-lt"/>
                <a:sym typeface="+mn-ea"/>
              </a:rPr>
              <a:t> 380K </a:t>
            </a:r>
            <a:r>
              <a:rPr kumimoji="1" lang="zh-CN" altLang="en-US">
                <a:solidFill>
                  <a:schemeClr val="tx1"/>
                </a:solidFill>
                <a:ea typeface="+mn-lt"/>
                <a:cs typeface="+mn-lt"/>
                <a:sym typeface="+mn-ea"/>
              </a:rPr>
              <a:t>的上下文</a:t>
            </a:r>
            <a:r>
              <a:rPr kumimoji="1" lang="en-US" altLang="zh-CN">
                <a:solidFill>
                  <a:schemeClr val="tx1"/>
                </a:solidFill>
                <a:ea typeface="+mn-lt"/>
                <a:cs typeface="+mn-lt"/>
                <a:sym typeface="+mn-ea"/>
              </a:rPr>
              <a:t> (Needle-in-a-Haystack </a:t>
            </a:r>
            <a:r>
              <a:rPr kumimoji="1" lang="zh-CN" altLang="en-US">
                <a:solidFill>
                  <a:schemeClr val="tx1"/>
                </a:solidFill>
                <a:ea typeface="+mn-lt"/>
                <a:cs typeface="+mn-lt"/>
                <a:sym typeface="+mn-ea"/>
              </a:rPr>
              <a:t>测试</a:t>
            </a:r>
            <a:r>
              <a:rPr kumimoji="1" lang="en-US" altLang="zh-CN">
                <a:solidFill>
                  <a:schemeClr val="tx1"/>
                </a:solidFill>
                <a:ea typeface="+mn-lt"/>
                <a:cs typeface="+mn-lt"/>
                <a:sym typeface="+mn-ea"/>
              </a:rPr>
              <a:t>)</a:t>
            </a:r>
            <a:r>
              <a:rPr kumimoji="1" lang="zh-CN" altLang="en-US">
                <a:solidFill>
                  <a:schemeClr val="tx1"/>
                </a:solidFill>
                <a:ea typeface="+mn-lt"/>
                <a:cs typeface="+mn-lt"/>
                <a:sym typeface="+mn-ea"/>
              </a:rPr>
              <a:t>，压缩比高达</a:t>
            </a:r>
            <a:r>
              <a:rPr kumimoji="1" lang="en-US" altLang="zh-CN">
                <a:solidFill>
                  <a:schemeClr val="tx1"/>
                </a:solidFill>
                <a:ea typeface="+mn-lt"/>
                <a:cs typeface="+mn-lt"/>
                <a:sym typeface="+mn-ea"/>
              </a:rPr>
              <a:t> 380x</a:t>
            </a:r>
            <a:r>
              <a:rPr kumimoji="1" lang="zh-CN" altLang="en-US">
                <a:solidFill>
                  <a:schemeClr val="tx1"/>
                </a:solidFill>
                <a:ea typeface="+mn-lt"/>
                <a:cs typeface="+mn-lt"/>
                <a:sym typeface="+mn-ea"/>
              </a:rPr>
              <a:t>，而原生实现仅</a:t>
            </a:r>
            <a:r>
              <a:rPr kumimoji="1" lang="en-US" altLang="zh-CN">
                <a:solidFill>
                  <a:schemeClr val="tx1"/>
                </a:solidFill>
                <a:ea typeface="+mn-lt"/>
                <a:cs typeface="+mn-lt"/>
                <a:sym typeface="+mn-ea"/>
              </a:rPr>
              <a:t> 33k </a:t>
            </a:r>
            <a:r>
              <a:rPr kumimoji="1" lang="zh-CN" altLang="en-US">
                <a:solidFill>
                  <a:schemeClr val="tx1"/>
                </a:solidFill>
                <a:ea typeface="+mn-lt"/>
                <a:cs typeface="+mn-lt"/>
                <a:sym typeface="+mn-ea"/>
              </a:rPr>
              <a:t>就</a:t>
            </a:r>
            <a:r>
              <a:rPr kumimoji="1" lang="en-US" altLang="zh-CN">
                <a:solidFill>
                  <a:schemeClr val="tx1"/>
                </a:solidFill>
                <a:ea typeface="+mn-lt"/>
                <a:cs typeface="+mn-lt"/>
                <a:sym typeface="+mn-ea"/>
              </a:rPr>
              <a:t> Out Of Memory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115" y="3140710"/>
            <a:ext cx="7951470" cy="34785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ea typeface="+mn-lt"/>
                <a:cs typeface="+mn-lt"/>
                <a:sym typeface="+mn-ea"/>
              </a:rPr>
              <a:t>实验结果</a:t>
            </a:r>
            <a:r>
              <a:rPr kumimoji="1" lang="en-US" altLang="zh-CN" sz="2800">
                <a:ea typeface="+mn-lt"/>
                <a:cs typeface="+mn-lt"/>
                <a:sym typeface="+mn-ea"/>
              </a:rPr>
              <a:t> -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性能保持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长文本理解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(LongBench):</a:t>
            </a:r>
            <a:endParaRPr kumimoji="1" lang="en-US" altLang="zh-CN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在包含单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/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多文档问答、摘要、少样本学习、代码等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16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个任务的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LongBench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上，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SnapKV (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压缩到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1024/2048/4096)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：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与使用完整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缓存的基线模型性能相当，甚至有时略有超越。（论文方法可以减少冗余信息的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干扰）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显著优于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H2O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方法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同样设置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4096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容量时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)</a:t>
            </a:r>
            <a:endParaRPr kumimoji="1" 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ea typeface="+mn-lt"/>
                <a:cs typeface="+mn-lt"/>
                <a:sym typeface="+mn-ea"/>
              </a:rPr>
              <a:t>实验结果</a:t>
            </a:r>
            <a:r>
              <a:rPr kumimoji="1" lang="en-US" altLang="zh-CN" sz="2800">
                <a:ea typeface="+mn-lt"/>
                <a:cs typeface="+mn-lt"/>
                <a:sym typeface="+mn-ea"/>
              </a:rPr>
              <a:t> -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性能保持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1268730"/>
            <a:ext cx="10300970" cy="5415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ea typeface="+mn-lt"/>
                <a:cs typeface="+mn-lt"/>
                <a:sym typeface="+mn-ea"/>
              </a:rPr>
              <a:t>实验结果</a:t>
            </a:r>
            <a:r>
              <a:rPr kumimoji="1" lang="en-US" altLang="zh-CN" sz="2800">
                <a:ea typeface="+mn-lt"/>
                <a:cs typeface="+mn-lt"/>
                <a:sym typeface="+mn-ea"/>
              </a:rPr>
              <a:t> -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性能保持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信息检索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(Needle-in-a-Haystack):</a:t>
            </a:r>
            <a:endParaRPr kumimoji="1" lang="en-US" altLang="zh-CN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即使在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380K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长度和高压缩比下，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SnapKV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依然能准确检索到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"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大海捞针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"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的信息，仅有轻微性能下降。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在改进版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打乱上下文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)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的测试中，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Command-R + SnapKV (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压缩比高达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32x)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性能与基线几乎无差别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(-0.5%)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。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205" y="4725035"/>
            <a:ext cx="69850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ea typeface="+mn-lt"/>
                <a:cs typeface="+mn-lt"/>
                <a:sym typeface="+mn-ea"/>
              </a:rPr>
              <a:t>实验结果</a:t>
            </a:r>
            <a:r>
              <a:rPr kumimoji="1" lang="en-US" altLang="zh-CN" sz="2800">
                <a:ea typeface="+mn-lt"/>
                <a:cs typeface="+mn-lt"/>
                <a:sym typeface="+mn-ea"/>
              </a:rPr>
              <a:t> -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性能保持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检索增强生成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(RAG):</a:t>
            </a:r>
            <a:endParaRPr kumimoji="1" lang="en-US" altLang="zh-CN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Command-R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上的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RAG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任务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如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bioasq, HotpotQA)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中，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SnapKV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4x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到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10x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的压缩比下，保持了接近基线的性能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(F1 score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仅下降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1-2%)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0" y="3860800"/>
            <a:ext cx="5270500" cy="172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ea typeface="+mn-lt"/>
                <a:cs typeface="+mn-lt"/>
                <a:sym typeface="+mn-ea"/>
              </a:rPr>
              <a:t>实验结果</a:t>
            </a:r>
            <a:r>
              <a:rPr kumimoji="1" lang="en-US" altLang="zh-CN" sz="2800">
                <a:ea typeface="+mn-lt"/>
                <a:cs typeface="+mn-lt"/>
                <a:sym typeface="+mn-ea"/>
              </a:rPr>
              <a:t> -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性能保持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检索增强生成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(RAG):</a:t>
            </a:r>
            <a:endParaRPr kumimoji="1" lang="en-US" altLang="zh-CN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在长文档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RAG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中，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SnapKV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甚至可能通过减少噪音文档干扰，提升模型性能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605" y="2590800"/>
            <a:ext cx="8114030" cy="40735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ea typeface="+mn-lt"/>
                <a:cs typeface="+mn-lt"/>
                <a:sym typeface="+mn-ea"/>
              </a:rPr>
              <a:t>实验结果</a:t>
            </a:r>
            <a:r>
              <a:rPr kumimoji="1" lang="en-US" altLang="zh-CN" sz="2800">
                <a:ea typeface="+mn-lt"/>
                <a:cs typeface="+mn-lt"/>
                <a:sym typeface="+mn-ea"/>
              </a:rPr>
              <a:t> -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性能保持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鲁棒性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:</a:t>
            </a:r>
            <a:endParaRPr kumimoji="1" lang="en-US" altLang="zh-CN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对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中指令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/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问题的位置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开头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vs.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结尾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)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不敏感。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315" y="2924810"/>
            <a:ext cx="88773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ea typeface="+mn-lt"/>
                <a:cs typeface="+mn-lt"/>
                <a:sym typeface="+mn-ea"/>
              </a:rPr>
              <a:t>实验结果</a:t>
            </a:r>
            <a:r>
              <a:rPr kumimoji="1" lang="en-US" altLang="zh-CN" sz="2800">
                <a:ea typeface="+mn-lt"/>
                <a:cs typeface="+mn-lt"/>
                <a:sym typeface="+mn-ea"/>
              </a:rPr>
              <a:t> -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性能保持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鲁棒性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:</a:t>
            </a:r>
            <a:endParaRPr kumimoji="1" lang="en-US" altLang="zh-CN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能根据不同指令动态识别重要特征，具备上下文感知能力。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即不同指令的所观察到的重要特征分布不一致，重叠率</a:t>
            </a: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低</a:t>
            </a:r>
            <a:endParaRPr kumimoji="1" lang="zh-CN" altLang="en-US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205" y="3502660"/>
            <a:ext cx="6464300" cy="2997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实验结果</a:t>
            </a: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 -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消融研究</a:t>
            </a: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 &amp;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兼容性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92505" y="1268730"/>
            <a:ext cx="1054925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聚类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(Pooling) </a:t>
            </a: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的重要性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:</a:t>
            </a:r>
            <a:endParaRPr kumimoji="1" lang="en-US" altLang="zh-CN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LongEval-Lines (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比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Needle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更难的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K-V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检索任务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)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上进行消融研究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结果表明，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使用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 Pooling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进行聚类相比仅选择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 Top-k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特征，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能显著提高信息检索的准确率，更好地保持信息完整性。（左侧用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top-k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，右侧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使用聚类，颜色代表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了检索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正确率）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130" y="4220845"/>
            <a:ext cx="90932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实验结果</a:t>
            </a: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 -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消融研究</a:t>
            </a: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 &amp; 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兼容性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39470" y="1155700"/>
            <a:ext cx="11015980" cy="5238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兼容性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- </a:t>
            </a: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结合并行解码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(Parallel Decoding):</a:t>
            </a:r>
            <a:endParaRPr kumimoji="1" lang="en-US" altLang="zh-CN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实验显示，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SnapKV + Medusa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10k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序列长度上比单独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Medusa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快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1.3x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，比原生解码快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2.2x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。</a:t>
            </a: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0" y="1844675"/>
            <a:ext cx="5706110" cy="38080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讨论与局限性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9470" y="1155700"/>
            <a:ext cx="11015980" cy="5238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优势总结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:</a:t>
            </a:r>
            <a:endParaRPr kumimoji="1" lang="en-US" altLang="zh-CN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简单有效、无需微调的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Prompt 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缓存压缩方法。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显著提升长上下文处理的内存和时间效率。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在多种任务和模型上保持与基线相当的性能。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对指令位置鲁棒，具备上下文感知能力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77000">
                <a:schemeClr val="bg1">
                  <a:alpha val="27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000">
              <a:ea typeface="+mn-lt"/>
              <a:cs typeface="+mn-lt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讨论与局限性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9470" y="1155700"/>
            <a:ext cx="11015980" cy="5238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局限性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:</a:t>
            </a:r>
            <a:endParaRPr kumimoji="1" lang="en-US" altLang="zh-CN" sz="2000" b="1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不扩展模型固有能力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 SnapKV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旨在优化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已有长上下文能力模型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的效率，无法让原本不支持长上下文的模型变得支持长上下文。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不加速</a:t>
            </a:r>
            <a:r>
              <a:rPr kumimoji="1" lang="en-US" altLang="zh-CN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处理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 SnapKV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主要优化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生成阶段对</a:t>
            </a:r>
            <a:r>
              <a:rPr kumimoji="1" lang="en-US" altLang="zh-CN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 Prompt KV 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缓存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的访问，不加速初始读取和处理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Prompt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本身的过程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 (Prompt Encoding)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kumimoji="1" lang="zh-CN" altLang="en-US" sz="2000" b="1">
                <a:solidFill>
                  <a:schemeClr val="tx1"/>
                </a:solidFill>
                <a:ea typeface="+mn-lt"/>
                <a:cs typeface="+mn-lt"/>
                <a:sym typeface="+mn-ea"/>
              </a:rPr>
              <a:t>性能依赖观察窗口</a:t>
            </a:r>
            <a:r>
              <a:rPr kumimoji="1" lang="en-US" altLang="zh-CN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: 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效果依赖于</a:t>
            </a:r>
            <a:r>
              <a:rPr kumimoji="1" lang="zh-CN" altLang="en-US" sz="2000" b="1">
                <a:solidFill>
                  <a:srgbClr val="C00000"/>
                </a:solidFill>
                <a:ea typeface="+mn-lt"/>
                <a:cs typeface="+mn-lt"/>
                <a:sym typeface="+mn-ea"/>
              </a:rPr>
              <a:t>观察窗口能有效捕捉到后续生成所需的重要信息模式</a:t>
            </a:r>
            <a:r>
              <a:rPr kumimoji="1" lang="zh-CN" altLang="en-US" sz="2000">
                <a:solidFill>
                  <a:schemeClr val="tx1"/>
                </a:solidFill>
                <a:ea typeface="+mn-lt"/>
                <a:cs typeface="+mn-lt"/>
                <a:sym typeface="+mn-ea"/>
              </a:rPr>
              <a:t>。</a:t>
            </a: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Font typeface="Arial" panose="020B0604020202090204" pitchFamily="34" charset="0"/>
              <a:buChar char="•"/>
            </a:pPr>
            <a:endParaRPr kumimoji="1" lang="zh-CN" altLang="en-US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  <a:p>
            <a:pPr indent="0" algn="l" fontAlgn="auto">
              <a:lnSpc>
                <a:spcPct val="200000"/>
              </a:lnSpc>
              <a:buNone/>
            </a:pPr>
            <a:endParaRPr kumimoji="1" lang="en-US" altLang="zh-CN" sz="2000">
              <a:solidFill>
                <a:schemeClr val="tx1"/>
              </a:solidFill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50026860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4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5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6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7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8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9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0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2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23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4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5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3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4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5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6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7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8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9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0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5AEE"/>
      </a:accent1>
      <a:accent2>
        <a:srgbClr val="0F9ED5"/>
      </a:accent2>
      <a:accent3>
        <a:srgbClr val="196B24"/>
      </a:accent3>
      <a:accent4>
        <a:srgbClr val="0F9ED5"/>
      </a:accent4>
      <a:accent5>
        <a:srgbClr val="005AEE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3509</Words>
  <Application>WPS 演示</Application>
  <PresentationFormat/>
  <Paragraphs>190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23</vt:i4>
      </vt:variant>
      <vt:variant>
        <vt:lpstr>幻灯片标题</vt:lpstr>
      </vt:variant>
      <vt:variant>
        <vt:i4>25</vt:i4>
      </vt:variant>
    </vt:vector>
  </HeadingPairs>
  <TitlesOfParts>
    <vt:vector size="67" baseType="lpstr">
      <vt:lpstr>Arial</vt:lpstr>
      <vt:lpstr>宋体</vt:lpstr>
      <vt:lpstr>Wingdings</vt:lpstr>
      <vt:lpstr>Arial Bold</vt:lpstr>
      <vt:lpstr>Source Han Sans CN Bold</vt:lpstr>
      <vt:lpstr>Thonburi</vt:lpstr>
      <vt:lpstr>Arial Regular</vt:lpstr>
      <vt:lpstr>等线</vt:lpstr>
      <vt:lpstr>Wingdings</vt:lpstr>
      <vt:lpstr>汉仪中等线KW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Source Han Sans CN Bold</vt:lpstr>
      <vt:lpstr>苹方-简</vt:lpstr>
      <vt:lpstr>Office 主题​​</vt:lpstr>
      <vt:lpstr>14_Office 主题​​</vt:lpstr>
      <vt:lpstr>15_Office 主题​​</vt:lpstr>
      <vt:lpstr>16_Office 主题​​</vt:lpstr>
      <vt:lpstr>17_Office 主题​​</vt:lpstr>
      <vt:lpstr>18_Office 主题​​</vt:lpstr>
      <vt:lpstr>19_Office 主题​​</vt:lpstr>
      <vt:lpstr>20_Office 主题​​</vt:lpstr>
      <vt:lpstr>21_Office 主题​​</vt:lpstr>
      <vt:lpstr>22_Office 主题​​</vt:lpstr>
      <vt:lpstr>23_Office 主题​​</vt:lpstr>
      <vt:lpstr>24_Office 主题​​</vt:lpstr>
      <vt:lpstr>25_Office 主题​​</vt:lpstr>
      <vt:lpstr>1_Office 主题​​</vt:lpstr>
      <vt:lpstr>2_Office 主题​​</vt:lpstr>
      <vt:lpstr>3_Office 主题​​</vt:lpstr>
      <vt:lpstr>4_Office 主题​​</vt:lpstr>
      <vt:lpstr>5_Office 主题​​</vt:lpstr>
      <vt:lpstr>6_Office 主题​​</vt:lpstr>
      <vt:lpstr>7_Office 主题​​</vt:lpstr>
      <vt:lpstr>8_Office 主题​​</vt:lpstr>
      <vt:lpstr>9_Office 主题​​</vt:lpstr>
      <vt:lpstr>10_Office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晏健鑫</cp:lastModifiedBy>
  <cp:revision>141</cp:revision>
  <dcterms:created xsi:type="dcterms:W3CDTF">2025-04-12T16:12:43Z</dcterms:created>
  <dcterms:modified xsi:type="dcterms:W3CDTF">2025-04-12T16:12:43Z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6B12064E9FA82311D1E7CE6735853A78_42</vt:lpwstr>
  </property>
  <property fmtid="{D5CDD505-2E9C-101B-9397-08002B2CF9AE}" pid="3" name="KSOProductBuildVer">
    <vt:lpwstr>2052-7.2.2.8955</vt:lpwstr>
  </property>
</Properties>
</file>